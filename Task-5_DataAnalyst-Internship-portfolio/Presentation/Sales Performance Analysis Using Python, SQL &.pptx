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049" autoAdjust="0"/>
  </p:normalViewPr>
  <p:slideViewPr>
    <p:cSldViewPr snapToGrid="0">
      <p:cViewPr varScale="1">
        <p:scale>
          <a:sx n="65" d="100"/>
          <a:sy n="65" d="100"/>
        </p:scale>
        <p:origin x="724" y="6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svg"/><Relationship Id="rId1" Type="http://schemas.openxmlformats.org/officeDocument/2006/relationships/image" Target="../media/image16.svg"/><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svg"/><Relationship Id="rId1" Type="http://schemas.openxmlformats.org/officeDocument/2006/relationships/image" Target="../media/image16.svg"/><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B15E27-3348-4D6B-B18E-E8A2C09C3306}"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70A3036-F85B-47B7-8E59-A714E1B9570D}">
      <dgm:prSet/>
      <dgm:spPr/>
      <dgm:t>
        <a:bodyPr/>
        <a:lstStyle/>
        <a:p>
          <a:r>
            <a:rPr lang="en-IN"/>
            <a:t>Recommendations</a:t>
          </a:r>
          <a:endParaRPr lang="en-US"/>
        </a:p>
      </dgm:t>
    </dgm:pt>
    <dgm:pt modelId="{1847CCB4-6786-41A2-A185-A3D69802E65C}" type="parTrans" cxnId="{767CB7BF-F61F-4A6A-ABDA-E13C104949B9}">
      <dgm:prSet/>
      <dgm:spPr/>
      <dgm:t>
        <a:bodyPr/>
        <a:lstStyle/>
        <a:p>
          <a:endParaRPr lang="en-US"/>
        </a:p>
      </dgm:t>
    </dgm:pt>
    <dgm:pt modelId="{7F597D71-719B-44C3-87D1-10C85CF149A7}" type="sibTrans" cxnId="{767CB7BF-F61F-4A6A-ABDA-E13C104949B9}">
      <dgm:prSet/>
      <dgm:spPr/>
      <dgm:t>
        <a:bodyPr/>
        <a:lstStyle/>
        <a:p>
          <a:endParaRPr lang="en-US"/>
        </a:p>
      </dgm:t>
    </dgm:pt>
    <dgm:pt modelId="{D90E45B9-DB01-403A-A4F8-39A016A8E956}">
      <dgm:prSet/>
      <dgm:spPr/>
      <dgm:t>
        <a:bodyPr/>
        <a:lstStyle/>
        <a:p>
          <a:r>
            <a:rPr lang="en-IN"/>
            <a:t>✔ Maintain sufficient inventory for Electronics products, especially Laptops and Mobiles, to meet customer demand and avoid stock shortages.</a:t>
          </a:r>
          <a:endParaRPr lang="en-US"/>
        </a:p>
      </dgm:t>
    </dgm:pt>
    <dgm:pt modelId="{A60E35C1-5D4D-441B-A54B-456431E3A971}" type="parTrans" cxnId="{B40C74A3-3A4E-43E3-92BF-D7CDDB050680}">
      <dgm:prSet/>
      <dgm:spPr/>
      <dgm:t>
        <a:bodyPr/>
        <a:lstStyle/>
        <a:p>
          <a:endParaRPr lang="en-US"/>
        </a:p>
      </dgm:t>
    </dgm:pt>
    <dgm:pt modelId="{30305E43-0DB9-40A3-963A-3DB398143AF4}" type="sibTrans" cxnId="{B40C74A3-3A4E-43E3-92BF-D7CDDB050680}">
      <dgm:prSet/>
      <dgm:spPr/>
      <dgm:t>
        <a:bodyPr/>
        <a:lstStyle/>
        <a:p>
          <a:endParaRPr lang="en-US"/>
        </a:p>
      </dgm:t>
    </dgm:pt>
    <dgm:pt modelId="{6D88278B-1E3C-4702-8904-E56A70071FD2}">
      <dgm:prSet/>
      <dgm:spPr/>
      <dgm:t>
        <a:bodyPr/>
        <a:lstStyle/>
        <a:p>
          <a:r>
            <a:rPr lang="en-IN"/>
            <a:t>✔ Increase marketing efforts in high-performing cities such as Patna, while creating targeted campaigns to improve sales in lower-performing cities.</a:t>
          </a:r>
          <a:endParaRPr lang="en-US"/>
        </a:p>
      </dgm:t>
    </dgm:pt>
    <dgm:pt modelId="{68040BD6-EB8A-4992-8BB3-2CBE147A34A2}" type="parTrans" cxnId="{192AB64A-1C04-4B12-84F0-01CFB123C2A7}">
      <dgm:prSet/>
      <dgm:spPr/>
      <dgm:t>
        <a:bodyPr/>
        <a:lstStyle/>
        <a:p>
          <a:endParaRPr lang="en-US"/>
        </a:p>
      </dgm:t>
    </dgm:pt>
    <dgm:pt modelId="{E3986CC2-0330-46D3-8F46-84E8EF2FF0EF}" type="sibTrans" cxnId="{192AB64A-1C04-4B12-84F0-01CFB123C2A7}">
      <dgm:prSet/>
      <dgm:spPr/>
      <dgm:t>
        <a:bodyPr/>
        <a:lstStyle/>
        <a:p>
          <a:endParaRPr lang="en-US"/>
        </a:p>
      </dgm:t>
    </dgm:pt>
    <dgm:pt modelId="{25B004FC-1342-4D7F-B124-B5F485B5BE5F}">
      <dgm:prSet/>
      <dgm:spPr/>
      <dgm:t>
        <a:bodyPr/>
        <a:lstStyle/>
        <a:p>
          <a:r>
            <a:rPr lang="en-IN"/>
            <a:t>✔ Develop promotional offers for lower-performing product categories to increase customer interest and boost sales.</a:t>
          </a:r>
          <a:endParaRPr lang="en-US"/>
        </a:p>
      </dgm:t>
    </dgm:pt>
    <dgm:pt modelId="{77E35018-97AA-4612-91E0-A4D77DBBBF6D}" type="parTrans" cxnId="{F4E123E3-A919-44E2-BC83-C1F71955D8F4}">
      <dgm:prSet/>
      <dgm:spPr/>
      <dgm:t>
        <a:bodyPr/>
        <a:lstStyle/>
        <a:p>
          <a:endParaRPr lang="en-US"/>
        </a:p>
      </dgm:t>
    </dgm:pt>
    <dgm:pt modelId="{B69419A8-0CB3-44FC-8919-E8E444ED6803}" type="sibTrans" cxnId="{F4E123E3-A919-44E2-BC83-C1F71955D8F4}">
      <dgm:prSet/>
      <dgm:spPr/>
      <dgm:t>
        <a:bodyPr/>
        <a:lstStyle/>
        <a:p>
          <a:endParaRPr lang="en-US"/>
        </a:p>
      </dgm:t>
    </dgm:pt>
    <dgm:pt modelId="{23CAE2FB-2731-4254-BFB8-79CD0078C47C}">
      <dgm:prSet/>
      <dgm:spPr/>
      <dgm:t>
        <a:bodyPr/>
        <a:lstStyle/>
        <a:p>
          <a:r>
            <a:rPr lang="en-IN"/>
            <a:t>✔ Analyze customer purchasing behavior regularly to identify buying trends and personalize marketing strategies.</a:t>
          </a:r>
          <a:endParaRPr lang="en-US"/>
        </a:p>
      </dgm:t>
    </dgm:pt>
    <dgm:pt modelId="{3F997D49-91FB-453E-969A-E298C9801AB1}" type="parTrans" cxnId="{E9AA1140-9855-4603-8CE7-C73E4BE1E74A}">
      <dgm:prSet/>
      <dgm:spPr/>
      <dgm:t>
        <a:bodyPr/>
        <a:lstStyle/>
        <a:p>
          <a:endParaRPr lang="en-US"/>
        </a:p>
      </dgm:t>
    </dgm:pt>
    <dgm:pt modelId="{51160DF8-CDDF-49F8-BC36-17762F5CE1AC}" type="sibTrans" cxnId="{E9AA1140-9855-4603-8CE7-C73E4BE1E74A}">
      <dgm:prSet/>
      <dgm:spPr/>
      <dgm:t>
        <a:bodyPr/>
        <a:lstStyle/>
        <a:p>
          <a:endParaRPr lang="en-US"/>
        </a:p>
      </dgm:t>
    </dgm:pt>
    <dgm:pt modelId="{2E38830C-8597-411A-B550-1E05C14F0212}">
      <dgm:prSet/>
      <dgm:spPr/>
      <dgm:t>
        <a:bodyPr/>
        <a:lstStyle/>
        <a:p>
          <a:r>
            <a:rPr lang="en-IN"/>
            <a:t>✔ Monitor sales performance using the Power BI dashboard to support timely, data-driven business decisions.</a:t>
          </a:r>
          <a:endParaRPr lang="en-US"/>
        </a:p>
      </dgm:t>
    </dgm:pt>
    <dgm:pt modelId="{C503CB3B-3EE4-443A-B466-2883ECFDAA6B}" type="parTrans" cxnId="{A740D131-49A5-41A6-94FF-8F95FE0ED740}">
      <dgm:prSet/>
      <dgm:spPr/>
      <dgm:t>
        <a:bodyPr/>
        <a:lstStyle/>
        <a:p>
          <a:endParaRPr lang="en-US"/>
        </a:p>
      </dgm:t>
    </dgm:pt>
    <dgm:pt modelId="{EB1A56B5-EF3F-450A-8DC0-FBCD35A2AD69}" type="sibTrans" cxnId="{A740D131-49A5-41A6-94FF-8F95FE0ED740}">
      <dgm:prSet/>
      <dgm:spPr/>
      <dgm:t>
        <a:bodyPr/>
        <a:lstStyle/>
        <a:p>
          <a:endParaRPr lang="en-US"/>
        </a:p>
      </dgm:t>
    </dgm:pt>
    <dgm:pt modelId="{5820FD11-67F0-4704-9B6A-2725397D26B6}">
      <dgm:prSet/>
      <dgm:spPr/>
      <dgm:t>
        <a:bodyPr/>
        <a:lstStyle/>
        <a:p>
          <a:r>
            <a:rPr lang="en-IN"/>
            <a:t>✔ Use sales trends to improve inventory planning, ensuring that high-demand products are always available.</a:t>
          </a:r>
          <a:endParaRPr lang="en-US"/>
        </a:p>
      </dgm:t>
    </dgm:pt>
    <dgm:pt modelId="{01623419-6DC6-4A31-B26D-17158530FF37}" type="parTrans" cxnId="{D19C1F4E-873C-4299-A9F4-360828F306F4}">
      <dgm:prSet/>
      <dgm:spPr/>
      <dgm:t>
        <a:bodyPr/>
        <a:lstStyle/>
        <a:p>
          <a:endParaRPr lang="en-US"/>
        </a:p>
      </dgm:t>
    </dgm:pt>
    <dgm:pt modelId="{B01B8851-8802-4640-B8F1-670E4AF37C60}" type="sibTrans" cxnId="{D19C1F4E-873C-4299-A9F4-360828F306F4}">
      <dgm:prSet/>
      <dgm:spPr/>
      <dgm:t>
        <a:bodyPr/>
        <a:lstStyle/>
        <a:p>
          <a:endParaRPr lang="en-US"/>
        </a:p>
      </dgm:t>
    </dgm:pt>
    <dgm:pt modelId="{F5EB5E70-5280-40F2-9A1F-5475A04FE88A}" type="pres">
      <dgm:prSet presAssocID="{9FB15E27-3348-4D6B-B18E-E8A2C09C3306}" presName="root" presStyleCnt="0">
        <dgm:presLayoutVars>
          <dgm:dir/>
          <dgm:resizeHandles val="exact"/>
        </dgm:presLayoutVars>
      </dgm:prSet>
      <dgm:spPr/>
    </dgm:pt>
    <dgm:pt modelId="{28BD38CF-F559-45AA-A233-DADE32C9FF29}" type="pres">
      <dgm:prSet presAssocID="{9FB15E27-3348-4D6B-B18E-E8A2C09C3306}" presName="container" presStyleCnt="0">
        <dgm:presLayoutVars>
          <dgm:dir/>
          <dgm:resizeHandles val="exact"/>
        </dgm:presLayoutVars>
      </dgm:prSet>
      <dgm:spPr/>
    </dgm:pt>
    <dgm:pt modelId="{494C59D8-D52D-4B02-95E2-8EEDE8425CC0}" type="pres">
      <dgm:prSet presAssocID="{170A3036-F85B-47B7-8E59-A714E1B9570D}" presName="compNode" presStyleCnt="0"/>
      <dgm:spPr/>
    </dgm:pt>
    <dgm:pt modelId="{25365072-2302-4754-8898-F2D779450ECF}" type="pres">
      <dgm:prSet presAssocID="{170A3036-F85B-47B7-8E59-A714E1B9570D}" presName="iconBgRect" presStyleLbl="bgShp" presStyleIdx="0" presStyleCnt="7"/>
      <dgm:spPr/>
    </dgm:pt>
    <dgm:pt modelId="{A4E015A4-9DDF-4ED4-8C1E-98DBC1B468B9}" type="pres">
      <dgm:prSet presAssocID="{170A3036-F85B-47B7-8E59-A714E1B9570D}"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Lightbulb"/>
        </a:ext>
      </dgm:extLst>
    </dgm:pt>
    <dgm:pt modelId="{A5AAEC31-8201-47B3-9801-68FE943C6E79}" type="pres">
      <dgm:prSet presAssocID="{170A3036-F85B-47B7-8E59-A714E1B9570D}" presName="spaceRect" presStyleCnt="0"/>
      <dgm:spPr/>
    </dgm:pt>
    <dgm:pt modelId="{2EE5A2F1-E196-4331-9758-DCD4EB7DF3D4}" type="pres">
      <dgm:prSet presAssocID="{170A3036-F85B-47B7-8E59-A714E1B9570D}" presName="textRect" presStyleLbl="revTx" presStyleIdx="0" presStyleCnt="7">
        <dgm:presLayoutVars>
          <dgm:chMax val="1"/>
          <dgm:chPref val="1"/>
        </dgm:presLayoutVars>
      </dgm:prSet>
      <dgm:spPr/>
    </dgm:pt>
    <dgm:pt modelId="{AE1FC18F-C2B9-4A4C-9775-77F8EC83BC0A}" type="pres">
      <dgm:prSet presAssocID="{7F597D71-719B-44C3-87D1-10C85CF149A7}" presName="sibTrans" presStyleLbl="sibTrans2D1" presStyleIdx="0" presStyleCnt="0"/>
      <dgm:spPr/>
    </dgm:pt>
    <dgm:pt modelId="{8B62E1E6-31A5-4657-A897-409876F1FF4B}" type="pres">
      <dgm:prSet presAssocID="{D90E45B9-DB01-403A-A4F8-39A016A8E956}" presName="compNode" presStyleCnt="0"/>
      <dgm:spPr/>
    </dgm:pt>
    <dgm:pt modelId="{EFF4E20D-E5A0-47F5-BC96-1288BAAF8D64}" type="pres">
      <dgm:prSet presAssocID="{D90E45B9-DB01-403A-A4F8-39A016A8E956}" presName="iconBgRect" presStyleLbl="bgShp" presStyleIdx="1" presStyleCnt="7"/>
      <dgm:spPr/>
    </dgm:pt>
    <dgm:pt modelId="{F10D9689-A3D9-4780-90B1-640A9586CBD1}" type="pres">
      <dgm:prSet presAssocID="{D90E45B9-DB01-403A-A4F8-39A016A8E956}"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40BB2ABE-7D82-4DF4-98FE-433BFAF7DF39}" type="pres">
      <dgm:prSet presAssocID="{D90E45B9-DB01-403A-A4F8-39A016A8E956}" presName="spaceRect" presStyleCnt="0"/>
      <dgm:spPr/>
    </dgm:pt>
    <dgm:pt modelId="{74181AB9-CFD8-4B8A-871A-9D146CFE3D5B}" type="pres">
      <dgm:prSet presAssocID="{D90E45B9-DB01-403A-A4F8-39A016A8E956}" presName="textRect" presStyleLbl="revTx" presStyleIdx="1" presStyleCnt="7">
        <dgm:presLayoutVars>
          <dgm:chMax val="1"/>
          <dgm:chPref val="1"/>
        </dgm:presLayoutVars>
      </dgm:prSet>
      <dgm:spPr/>
    </dgm:pt>
    <dgm:pt modelId="{CEF16728-656E-4C33-8A1F-5CAF6983F009}" type="pres">
      <dgm:prSet presAssocID="{30305E43-0DB9-40A3-963A-3DB398143AF4}" presName="sibTrans" presStyleLbl="sibTrans2D1" presStyleIdx="0" presStyleCnt="0"/>
      <dgm:spPr/>
    </dgm:pt>
    <dgm:pt modelId="{8D191EFF-A53F-4D95-B25D-116FFE62DE5A}" type="pres">
      <dgm:prSet presAssocID="{6D88278B-1E3C-4702-8904-E56A70071FD2}" presName="compNode" presStyleCnt="0"/>
      <dgm:spPr/>
    </dgm:pt>
    <dgm:pt modelId="{A83AA5AC-490A-4E59-834E-A304441DCE36}" type="pres">
      <dgm:prSet presAssocID="{6D88278B-1E3C-4702-8904-E56A70071FD2}" presName="iconBgRect" presStyleLbl="bgShp" presStyleIdx="2" presStyleCnt="7"/>
      <dgm:spPr/>
    </dgm:pt>
    <dgm:pt modelId="{13927F79-A457-4F18-A588-98B4DB48BA3A}" type="pres">
      <dgm:prSet presAssocID="{6D88278B-1E3C-4702-8904-E56A70071FD2}"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aximize"/>
        </a:ext>
      </dgm:extLst>
    </dgm:pt>
    <dgm:pt modelId="{C207F7AC-31C1-4D76-886D-70BCB4724C1C}" type="pres">
      <dgm:prSet presAssocID="{6D88278B-1E3C-4702-8904-E56A70071FD2}" presName="spaceRect" presStyleCnt="0"/>
      <dgm:spPr/>
    </dgm:pt>
    <dgm:pt modelId="{0C1F0A45-A6B3-44CB-BED0-1FF658C000A9}" type="pres">
      <dgm:prSet presAssocID="{6D88278B-1E3C-4702-8904-E56A70071FD2}" presName="textRect" presStyleLbl="revTx" presStyleIdx="2" presStyleCnt="7">
        <dgm:presLayoutVars>
          <dgm:chMax val="1"/>
          <dgm:chPref val="1"/>
        </dgm:presLayoutVars>
      </dgm:prSet>
      <dgm:spPr/>
    </dgm:pt>
    <dgm:pt modelId="{09DAA472-A5E7-4112-A8B8-B46F3BC901E9}" type="pres">
      <dgm:prSet presAssocID="{E3986CC2-0330-46D3-8F46-84E8EF2FF0EF}" presName="sibTrans" presStyleLbl="sibTrans2D1" presStyleIdx="0" presStyleCnt="0"/>
      <dgm:spPr/>
    </dgm:pt>
    <dgm:pt modelId="{22DE583E-6CA9-4CF0-8733-272A0E42E621}" type="pres">
      <dgm:prSet presAssocID="{25B004FC-1342-4D7F-B124-B5F485B5BE5F}" presName="compNode" presStyleCnt="0"/>
      <dgm:spPr/>
    </dgm:pt>
    <dgm:pt modelId="{8ADE65D1-ABDD-4DF4-B163-6D2EE167C599}" type="pres">
      <dgm:prSet presAssocID="{25B004FC-1342-4D7F-B124-B5F485B5BE5F}" presName="iconBgRect" presStyleLbl="bgShp" presStyleIdx="3" presStyleCnt="7"/>
      <dgm:spPr/>
    </dgm:pt>
    <dgm:pt modelId="{C9F68178-C24B-4062-A378-F8732A8852D2}" type="pres">
      <dgm:prSet presAssocID="{25B004FC-1342-4D7F-B124-B5F485B5BE5F}"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seball Hat"/>
        </a:ext>
      </dgm:extLst>
    </dgm:pt>
    <dgm:pt modelId="{87A6B4B9-0E6E-41B6-83EB-6B9F1BA9557A}" type="pres">
      <dgm:prSet presAssocID="{25B004FC-1342-4D7F-B124-B5F485B5BE5F}" presName="spaceRect" presStyleCnt="0"/>
      <dgm:spPr/>
    </dgm:pt>
    <dgm:pt modelId="{84174D36-B4D2-44B0-9183-86BF85B62EE7}" type="pres">
      <dgm:prSet presAssocID="{25B004FC-1342-4D7F-B124-B5F485B5BE5F}" presName="textRect" presStyleLbl="revTx" presStyleIdx="3" presStyleCnt="7">
        <dgm:presLayoutVars>
          <dgm:chMax val="1"/>
          <dgm:chPref val="1"/>
        </dgm:presLayoutVars>
      </dgm:prSet>
      <dgm:spPr/>
    </dgm:pt>
    <dgm:pt modelId="{657B548D-A1EB-4D37-A47A-D5AADF618B52}" type="pres">
      <dgm:prSet presAssocID="{B69419A8-0CB3-44FC-8919-E8E444ED6803}" presName="sibTrans" presStyleLbl="sibTrans2D1" presStyleIdx="0" presStyleCnt="0"/>
      <dgm:spPr/>
    </dgm:pt>
    <dgm:pt modelId="{DDE18217-08C2-4727-A903-B367DC322C8B}" type="pres">
      <dgm:prSet presAssocID="{23CAE2FB-2731-4254-BFB8-79CD0078C47C}" presName="compNode" presStyleCnt="0"/>
      <dgm:spPr/>
    </dgm:pt>
    <dgm:pt modelId="{4B963129-362C-4A3E-9C20-24DA12EFEF73}" type="pres">
      <dgm:prSet presAssocID="{23CAE2FB-2731-4254-BFB8-79CD0078C47C}" presName="iconBgRect" presStyleLbl="bgShp" presStyleIdx="4" presStyleCnt="7"/>
      <dgm:spPr/>
    </dgm:pt>
    <dgm:pt modelId="{934B0A92-8C8E-425F-B558-38B0F6568420}" type="pres">
      <dgm:prSet presAssocID="{23CAE2FB-2731-4254-BFB8-79CD0078C47C}"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Target Audience"/>
        </a:ext>
      </dgm:extLst>
    </dgm:pt>
    <dgm:pt modelId="{6FEF763B-5652-42E6-91C8-F1A68F229597}" type="pres">
      <dgm:prSet presAssocID="{23CAE2FB-2731-4254-BFB8-79CD0078C47C}" presName="spaceRect" presStyleCnt="0"/>
      <dgm:spPr/>
    </dgm:pt>
    <dgm:pt modelId="{AFF492FA-BC19-4213-985A-909C68889FFC}" type="pres">
      <dgm:prSet presAssocID="{23CAE2FB-2731-4254-BFB8-79CD0078C47C}" presName="textRect" presStyleLbl="revTx" presStyleIdx="4" presStyleCnt="7">
        <dgm:presLayoutVars>
          <dgm:chMax val="1"/>
          <dgm:chPref val="1"/>
        </dgm:presLayoutVars>
      </dgm:prSet>
      <dgm:spPr/>
    </dgm:pt>
    <dgm:pt modelId="{B7033E0C-1656-4FE3-A201-64FD3CE08146}" type="pres">
      <dgm:prSet presAssocID="{51160DF8-CDDF-49F8-BC36-17762F5CE1AC}" presName="sibTrans" presStyleLbl="sibTrans2D1" presStyleIdx="0" presStyleCnt="0"/>
      <dgm:spPr/>
    </dgm:pt>
    <dgm:pt modelId="{45C060EB-5A02-44F2-A758-3B234D2A7159}" type="pres">
      <dgm:prSet presAssocID="{2E38830C-8597-411A-B550-1E05C14F0212}" presName="compNode" presStyleCnt="0"/>
      <dgm:spPr/>
    </dgm:pt>
    <dgm:pt modelId="{E2D62DDA-FF54-47F0-AB5C-BC8CC586FB58}" type="pres">
      <dgm:prSet presAssocID="{2E38830C-8597-411A-B550-1E05C14F0212}" presName="iconBgRect" presStyleLbl="bgShp" presStyleIdx="5" presStyleCnt="7"/>
      <dgm:spPr/>
    </dgm:pt>
    <dgm:pt modelId="{10FC67C6-5FD7-41A1-AD64-69BB8E51F30F}" type="pres">
      <dgm:prSet presAssocID="{2E38830C-8597-411A-B550-1E05C14F0212}"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82BF8324-6E17-4898-86DB-69A0B11356D6}" type="pres">
      <dgm:prSet presAssocID="{2E38830C-8597-411A-B550-1E05C14F0212}" presName="spaceRect" presStyleCnt="0"/>
      <dgm:spPr/>
    </dgm:pt>
    <dgm:pt modelId="{0B089203-B9FC-422B-BAD6-A854D81E11F5}" type="pres">
      <dgm:prSet presAssocID="{2E38830C-8597-411A-B550-1E05C14F0212}" presName="textRect" presStyleLbl="revTx" presStyleIdx="5" presStyleCnt="7">
        <dgm:presLayoutVars>
          <dgm:chMax val="1"/>
          <dgm:chPref val="1"/>
        </dgm:presLayoutVars>
      </dgm:prSet>
      <dgm:spPr/>
    </dgm:pt>
    <dgm:pt modelId="{B0D67168-8FBA-40B9-A4F6-038E792DE60D}" type="pres">
      <dgm:prSet presAssocID="{EB1A56B5-EF3F-450A-8DC0-FBCD35A2AD69}" presName="sibTrans" presStyleLbl="sibTrans2D1" presStyleIdx="0" presStyleCnt="0"/>
      <dgm:spPr/>
    </dgm:pt>
    <dgm:pt modelId="{1C386244-BBB4-49E9-B7AB-7E819641E15B}" type="pres">
      <dgm:prSet presAssocID="{5820FD11-67F0-4704-9B6A-2725397D26B6}" presName="compNode" presStyleCnt="0"/>
      <dgm:spPr/>
    </dgm:pt>
    <dgm:pt modelId="{DB02667F-C964-447D-A945-4F9DD5C7CD5A}" type="pres">
      <dgm:prSet presAssocID="{5820FD11-67F0-4704-9B6A-2725397D26B6}" presName="iconBgRect" presStyleLbl="bgShp" presStyleIdx="6" presStyleCnt="7"/>
      <dgm:spPr/>
    </dgm:pt>
    <dgm:pt modelId="{76562BCA-DBF8-4624-9B25-B2F426F0925D}" type="pres">
      <dgm:prSet presAssocID="{5820FD11-67F0-4704-9B6A-2725397D26B6}"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Kiosk"/>
        </a:ext>
      </dgm:extLst>
    </dgm:pt>
    <dgm:pt modelId="{7AA952D2-5C42-487C-A6F2-58FF6D648489}" type="pres">
      <dgm:prSet presAssocID="{5820FD11-67F0-4704-9B6A-2725397D26B6}" presName="spaceRect" presStyleCnt="0"/>
      <dgm:spPr/>
    </dgm:pt>
    <dgm:pt modelId="{3A74E32F-72C4-49A7-AC27-E1F82A2D0EB0}" type="pres">
      <dgm:prSet presAssocID="{5820FD11-67F0-4704-9B6A-2725397D26B6}" presName="textRect" presStyleLbl="revTx" presStyleIdx="6" presStyleCnt="7">
        <dgm:presLayoutVars>
          <dgm:chMax val="1"/>
          <dgm:chPref val="1"/>
        </dgm:presLayoutVars>
      </dgm:prSet>
      <dgm:spPr/>
    </dgm:pt>
  </dgm:ptLst>
  <dgm:cxnLst>
    <dgm:cxn modelId="{ABAB1902-86A7-47E3-AEC2-5903C923F9E0}" type="presOf" srcId="{5820FD11-67F0-4704-9B6A-2725397D26B6}" destId="{3A74E32F-72C4-49A7-AC27-E1F82A2D0EB0}" srcOrd="0" destOrd="0" presId="urn:microsoft.com/office/officeart/2018/2/layout/IconCircleList"/>
    <dgm:cxn modelId="{7C44FA03-38A8-4663-834A-8626F277A315}" type="presOf" srcId="{25B004FC-1342-4D7F-B124-B5F485B5BE5F}" destId="{84174D36-B4D2-44B0-9183-86BF85B62EE7}" srcOrd="0" destOrd="0" presId="urn:microsoft.com/office/officeart/2018/2/layout/IconCircleList"/>
    <dgm:cxn modelId="{B1B72017-A2EB-4417-9AE4-EA3E0AE08C2C}" type="presOf" srcId="{6D88278B-1E3C-4702-8904-E56A70071FD2}" destId="{0C1F0A45-A6B3-44CB-BED0-1FF658C000A9}" srcOrd="0" destOrd="0" presId="urn:microsoft.com/office/officeart/2018/2/layout/IconCircleList"/>
    <dgm:cxn modelId="{F738A818-47C0-408D-9291-C1474837D477}" type="presOf" srcId="{30305E43-0DB9-40A3-963A-3DB398143AF4}" destId="{CEF16728-656E-4C33-8A1F-5CAF6983F009}" srcOrd="0" destOrd="0" presId="urn:microsoft.com/office/officeart/2018/2/layout/IconCircleList"/>
    <dgm:cxn modelId="{E38C0C2A-1CC3-4617-8E8C-15AD328E384C}" type="presOf" srcId="{D90E45B9-DB01-403A-A4F8-39A016A8E956}" destId="{74181AB9-CFD8-4B8A-871A-9D146CFE3D5B}" srcOrd="0" destOrd="0" presId="urn:microsoft.com/office/officeart/2018/2/layout/IconCircleList"/>
    <dgm:cxn modelId="{A740D131-49A5-41A6-94FF-8F95FE0ED740}" srcId="{9FB15E27-3348-4D6B-B18E-E8A2C09C3306}" destId="{2E38830C-8597-411A-B550-1E05C14F0212}" srcOrd="5" destOrd="0" parTransId="{C503CB3B-3EE4-443A-B466-2883ECFDAA6B}" sibTransId="{EB1A56B5-EF3F-450A-8DC0-FBCD35A2AD69}"/>
    <dgm:cxn modelId="{E9AA1140-9855-4603-8CE7-C73E4BE1E74A}" srcId="{9FB15E27-3348-4D6B-B18E-E8A2C09C3306}" destId="{23CAE2FB-2731-4254-BFB8-79CD0078C47C}" srcOrd="4" destOrd="0" parTransId="{3F997D49-91FB-453E-969A-E298C9801AB1}" sibTransId="{51160DF8-CDDF-49F8-BC36-17762F5CE1AC}"/>
    <dgm:cxn modelId="{BAA68C67-3523-4219-AB72-6B8E1A29F753}" type="presOf" srcId="{51160DF8-CDDF-49F8-BC36-17762F5CE1AC}" destId="{B7033E0C-1656-4FE3-A201-64FD3CE08146}" srcOrd="0" destOrd="0" presId="urn:microsoft.com/office/officeart/2018/2/layout/IconCircleList"/>
    <dgm:cxn modelId="{192AB64A-1C04-4B12-84F0-01CFB123C2A7}" srcId="{9FB15E27-3348-4D6B-B18E-E8A2C09C3306}" destId="{6D88278B-1E3C-4702-8904-E56A70071FD2}" srcOrd="2" destOrd="0" parTransId="{68040BD6-EB8A-4992-8BB3-2CBE147A34A2}" sibTransId="{E3986CC2-0330-46D3-8F46-84E8EF2FF0EF}"/>
    <dgm:cxn modelId="{D19C1F4E-873C-4299-A9F4-360828F306F4}" srcId="{9FB15E27-3348-4D6B-B18E-E8A2C09C3306}" destId="{5820FD11-67F0-4704-9B6A-2725397D26B6}" srcOrd="6" destOrd="0" parTransId="{01623419-6DC6-4A31-B26D-17158530FF37}" sibTransId="{B01B8851-8802-4640-B8F1-670E4AF37C60}"/>
    <dgm:cxn modelId="{CD44C44E-9756-42AF-84F1-C6581E5317B5}" type="presOf" srcId="{170A3036-F85B-47B7-8E59-A714E1B9570D}" destId="{2EE5A2F1-E196-4331-9758-DCD4EB7DF3D4}" srcOrd="0" destOrd="0" presId="urn:microsoft.com/office/officeart/2018/2/layout/IconCircleList"/>
    <dgm:cxn modelId="{405A5E83-0F40-44CD-9698-314DD31E55E2}" type="presOf" srcId="{B69419A8-0CB3-44FC-8919-E8E444ED6803}" destId="{657B548D-A1EB-4D37-A47A-D5AADF618B52}" srcOrd="0" destOrd="0" presId="urn:microsoft.com/office/officeart/2018/2/layout/IconCircleList"/>
    <dgm:cxn modelId="{C2839483-1F9E-4AA9-913B-7AABA1E27892}" type="presOf" srcId="{EB1A56B5-EF3F-450A-8DC0-FBCD35A2AD69}" destId="{B0D67168-8FBA-40B9-A4F6-038E792DE60D}" srcOrd="0" destOrd="0" presId="urn:microsoft.com/office/officeart/2018/2/layout/IconCircleList"/>
    <dgm:cxn modelId="{2C9A3B99-EACF-4677-977F-181F0B0754D7}" type="presOf" srcId="{9FB15E27-3348-4D6B-B18E-E8A2C09C3306}" destId="{F5EB5E70-5280-40F2-9A1F-5475A04FE88A}" srcOrd="0" destOrd="0" presId="urn:microsoft.com/office/officeart/2018/2/layout/IconCircleList"/>
    <dgm:cxn modelId="{B40C74A3-3A4E-43E3-92BF-D7CDDB050680}" srcId="{9FB15E27-3348-4D6B-B18E-E8A2C09C3306}" destId="{D90E45B9-DB01-403A-A4F8-39A016A8E956}" srcOrd="1" destOrd="0" parTransId="{A60E35C1-5D4D-441B-A54B-456431E3A971}" sibTransId="{30305E43-0DB9-40A3-963A-3DB398143AF4}"/>
    <dgm:cxn modelId="{767CB7BF-F61F-4A6A-ABDA-E13C104949B9}" srcId="{9FB15E27-3348-4D6B-B18E-E8A2C09C3306}" destId="{170A3036-F85B-47B7-8E59-A714E1B9570D}" srcOrd="0" destOrd="0" parTransId="{1847CCB4-6786-41A2-A185-A3D69802E65C}" sibTransId="{7F597D71-719B-44C3-87D1-10C85CF149A7}"/>
    <dgm:cxn modelId="{43863ACA-610B-43AF-9316-FE98EB961AF6}" type="presOf" srcId="{2E38830C-8597-411A-B550-1E05C14F0212}" destId="{0B089203-B9FC-422B-BAD6-A854D81E11F5}" srcOrd="0" destOrd="0" presId="urn:microsoft.com/office/officeart/2018/2/layout/IconCircleList"/>
    <dgm:cxn modelId="{F4E123E3-A919-44E2-BC83-C1F71955D8F4}" srcId="{9FB15E27-3348-4D6B-B18E-E8A2C09C3306}" destId="{25B004FC-1342-4D7F-B124-B5F485B5BE5F}" srcOrd="3" destOrd="0" parTransId="{77E35018-97AA-4612-91E0-A4D77DBBBF6D}" sibTransId="{B69419A8-0CB3-44FC-8919-E8E444ED6803}"/>
    <dgm:cxn modelId="{CF96FCEC-2239-4F43-A201-C93B67D4AD48}" type="presOf" srcId="{23CAE2FB-2731-4254-BFB8-79CD0078C47C}" destId="{AFF492FA-BC19-4213-985A-909C68889FFC}" srcOrd="0" destOrd="0" presId="urn:microsoft.com/office/officeart/2018/2/layout/IconCircleList"/>
    <dgm:cxn modelId="{833567F2-8763-4B8E-92F0-F131A9FB57EF}" type="presOf" srcId="{7F597D71-719B-44C3-87D1-10C85CF149A7}" destId="{AE1FC18F-C2B9-4A4C-9775-77F8EC83BC0A}" srcOrd="0" destOrd="0" presId="urn:microsoft.com/office/officeart/2018/2/layout/IconCircleList"/>
    <dgm:cxn modelId="{640688FA-C24D-4B5D-B0BB-9F38355E4913}" type="presOf" srcId="{E3986CC2-0330-46D3-8F46-84E8EF2FF0EF}" destId="{09DAA472-A5E7-4112-A8B8-B46F3BC901E9}" srcOrd="0" destOrd="0" presId="urn:microsoft.com/office/officeart/2018/2/layout/IconCircleList"/>
    <dgm:cxn modelId="{51C20B01-5BEB-4DB8-B789-645E8F06C3FB}" type="presParOf" srcId="{F5EB5E70-5280-40F2-9A1F-5475A04FE88A}" destId="{28BD38CF-F559-45AA-A233-DADE32C9FF29}" srcOrd="0" destOrd="0" presId="urn:microsoft.com/office/officeart/2018/2/layout/IconCircleList"/>
    <dgm:cxn modelId="{222A1007-DFEB-48C6-AD93-0D015B2A1921}" type="presParOf" srcId="{28BD38CF-F559-45AA-A233-DADE32C9FF29}" destId="{494C59D8-D52D-4B02-95E2-8EEDE8425CC0}" srcOrd="0" destOrd="0" presId="urn:microsoft.com/office/officeart/2018/2/layout/IconCircleList"/>
    <dgm:cxn modelId="{9B622FFB-2DCB-4B49-8489-8038681405EB}" type="presParOf" srcId="{494C59D8-D52D-4B02-95E2-8EEDE8425CC0}" destId="{25365072-2302-4754-8898-F2D779450ECF}" srcOrd="0" destOrd="0" presId="urn:microsoft.com/office/officeart/2018/2/layout/IconCircleList"/>
    <dgm:cxn modelId="{3E4035D8-3063-435F-9EFB-C48B0599A02B}" type="presParOf" srcId="{494C59D8-D52D-4B02-95E2-8EEDE8425CC0}" destId="{A4E015A4-9DDF-4ED4-8C1E-98DBC1B468B9}" srcOrd="1" destOrd="0" presId="urn:microsoft.com/office/officeart/2018/2/layout/IconCircleList"/>
    <dgm:cxn modelId="{9139FC5A-71E2-4F99-A468-75E6FEE43A7E}" type="presParOf" srcId="{494C59D8-D52D-4B02-95E2-8EEDE8425CC0}" destId="{A5AAEC31-8201-47B3-9801-68FE943C6E79}" srcOrd="2" destOrd="0" presId="urn:microsoft.com/office/officeart/2018/2/layout/IconCircleList"/>
    <dgm:cxn modelId="{2F857542-B095-49B8-88F8-7550667CA5C2}" type="presParOf" srcId="{494C59D8-D52D-4B02-95E2-8EEDE8425CC0}" destId="{2EE5A2F1-E196-4331-9758-DCD4EB7DF3D4}" srcOrd="3" destOrd="0" presId="urn:microsoft.com/office/officeart/2018/2/layout/IconCircleList"/>
    <dgm:cxn modelId="{125EE5E1-F8DD-4C94-B896-2959DA678015}" type="presParOf" srcId="{28BD38CF-F559-45AA-A233-DADE32C9FF29}" destId="{AE1FC18F-C2B9-4A4C-9775-77F8EC83BC0A}" srcOrd="1" destOrd="0" presId="urn:microsoft.com/office/officeart/2018/2/layout/IconCircleList"/>
    <dgm:cxn modelId="{D2972A5A-3582-475C-8D51-C7EA5E068DF7}" type="presParOf" srcId="{28BD38CF-F559-45AA-A233-DADE32C9FF29}" destId="{8B62E1E6-31A5-4657-A897-409876F1FF4B}" srcOrd="2" destOrd="0" presId="urn:microsoft.com/office/officeart/2018/2/layout/IconCircleList"/>
    <dgm:cxn modelId="{743711F2-BC3F-4E0C-BBD6-A04013B3C19A}" type="presParOf" srcId="{8B62E1E6-31A5-4657-A897-409876F1FF4B}" destId="{EFF4E20D-E5A0-47F5-BC96-1288BAAF8D64}" srcOrd="0" destOrd="0" presId="urn:microsoft.com/office/officeart/2018/2/layout/IconCircleList"/>
    <dgm:cxn modelId="{09DA122D-F627-4A74-8D12-12D75AC2CD9A}" type="presParOf" srcId="{8B62E1E6-31A5-4657-A897-409876F1FF4B}" destId="{F10D9689-A3D9-4780-90B1-640A9586CBD1}" srcOrd="1" destOrd="0" presId="urn:microsoft.com/office/officeart/2018/2/layout/IconCircleList"/>
    <dgm:cxn modelId="{9402C9F6-27B7-49D8-B9CB-B7F5EA9647DE}" type="presParOf" srcId="{8B62E1E6-31A5-4657-A897-409876F1FF4B}" destId="{40BB2ABE-7D82-4DF4-98FE-433BFAF7DF39}" srcOrd="2" destOrd="0" presId="urn:microsoft.com/office/officeart/2018/2/layout/IconCircleList"/>
    <dgm:cxn modelId="{7F3EFF76-DA6A-4446-B40D-FBC9F0BDC14D}" type="presParOf" srcId="{8B62E1E6-31A5-4657-A897-409876F1FF4B}" destId="{74181AB9-CFD8-4B8A-871A-9D146CFE3D5B}" srcOrd="3" destOrd="0" presId="urn:microsoft.com/office/officeart/2018/2/layout/IconCircleList"/>
    <dgm:cxn modelId="{9CF81593-A3F8-4F9F-8A16-45AB43FF893C}" type="presParOf" srcId="{28BD38CF-F559-45AA-A233-DADE32C9FF29}" destId="{CEF16728-656E-4C33-8A1F-5CAF6983F009}" srcOrd="3" destOrd="0" presId="urn:microsoft.com/office/officeart/2018/2/layout/IconCircleList"/>
    <dgm:cxn modelId="{F519A406-5217-427A-9064-349302020738}" type="presParOf" srcId="{28BD38CF-F559-45AA-A233-DADE32C9FF29}" destId="{8D191EFF-A53F-4D95-B25D-116FFE62DE5A}" srcOrd="4" destOrd="0" presId="urn:microsoft.com/office/officeart/2018/2/layout/IconCircleList"/>
    <dgm:cxn modelId="{4E56B071-E201-4C9F-9038-A40A1A6B7DF9}" type="presParOf" srcId="{8D191EFF-A53F-4D95-B25D-116FFE62DE5A}" destId="{A83AA5AC-490A-4E59-834E-A304441DCE36}" srcOrd="0" destOrd="0" presId="urn:microsoft.com/office/officeart/2018/2/layout/IconCircleList"/>
    <dgm:cxn modelId="{9463A2D5-EBDC-4D66-858E-0AAFF9A78ED9}" type="presParOf" srcId="{8D191EFF-A53F-4D95-B25D-116FFE62DE5A}" destId="{13927F79-A457-4F18-A588-98B4DB48BA3A}" srcOrd="1" destOrd="0" presId="urn:microsoft.com/office/officeart/2018/2/layout/IconCircleList"/>
    <dgm:cxn modelId="{6984E51B-03AC-4906-AFC7-AA0D8B26198E}" type="presParOf" srcId="{8D191EFF-A53F-4D95-B25D-116FFE62DE5A}" destId="{C207F7AC-31C1-4D76-886D-70BCB4724C1C}" srcOrd="2" destOrd="0" presId="urn:microsoft.com/office/officeart/2018/2/layout/IconCircleList"/>
    <dgm:cxn modelId="{E40C5230-D140-419E-AFEF-6A501F7A14BA}" type="presParOf" srcId="{8D191EFF-A53F-4D95-B25D-116FFE62DE5A}" destId="{0C1F0A45-A6B3-44CB-BED0-1FF658C000A9}" srcOrd="3" destOrd="0" presId="urn:microsoft.com/office/officeart/2018/2/layout/IconCircleList"/>
    <dgm:cxn modelId="{EDEB3B07-F706-47E9-A113-262A09E2052D}" type="presParOf" srcId="{28BD38CF-F559-45AA-A233-DADE32C9FF29}" destId="{09DAA472-A5E7-4112-A8B8-B46F3BC901E9}" srcOrd="5" destOrd="0" presId="urn:microsoft.com/office/officeart/2018/2/layout/IconCircleList"/>
    <dgm:cxn modelId="{0A760DF6-DEFD-4DC8-8B71-6FF578CBF000}" type="presParOf" srcId="{28BD38CF-F559-45AA-A233-DADE32C9FF29}" destId="{22DE583E-6CA9-4CF0-8733-272A0E42E621}" srcOrd="6" destOrd="0" presId="urn:microsoft.com/office/officeart/2018/2/layout/IconCircleList"/>
    <dgm:cxn modelId="{83CA89D8-D5C9-4601-BDFB-9C474E20243C}" type="presParOf" srcId="{22DE583E-6CA9-4CF0-8733-272A0E42E621}" destId="{8ADE65D1-ABDD-4DF4-B163-6D2EE167C599}" srcOrd="0" destOrd="0" presId="urn:microsoft.com/office/officeart/2018/2/layout/IconCircleList"/>
    <dgm:cxn modelId="{2A83D38D-7376-46B1-8A83-56C505154B25}" type="presParOf" srcId="{22DE583E-6CA9-4CF0-8733-272A0E42E621}" destId="{C9F68178-C24B-4062-A378-F8732A8852D2}" srcOrd="1" destOrd="0" presId="urn:microsoft.com/office/officeart/2018/2/layout/IconCircleList"/>
    <dgm:cxn modelId="{599C2C87-B5AC-4916-AB97-B11A140A0FA7}" type="presParOf" srcId="{22DE583E-6CA9-4CF0-8733-272A0E42E621}" destId="{87A6B4B9-0E6E-41B6-83EB-6B9F1BA9557A}" srcOrd="2" destOrd="0" presId="urn:microsoft.com/office/officeart/2018/2/layout/IconCircleList"/>
    <dgm:cxn modelId="{7DA6CB97-DCAB-4D12-9DDD-94CF815D6418}" type="presParOf" srcId="{22DE583E-6CA9-4CF0-8733-272A0E42E621}" destId="{84174D36-B4D2-44B0-9183-86BF85B62EE7}" srcOrd="3" destOrd="0" presId="urn:microsoft.com/office/officeart/2018/2/layout/IconCircleList"/>
    <dgm:cxn modelId="{96BFFEF1-5699-4EFC-ACD6-D3CB192A4C66}" type="presParOf" srcId="{28BD38CF-F559-45AA-A233-DADE32C9FF29}" destId="{657B548D-A1EB-4D37-A47A-D5AADF618B52}" srcOrd="7" destOrd="0" presId="urn:microsoft.com/office/officeart/2018/2/layout/IconCircleList"/>
    <dgm:cxn modelId="{4A6C6C26-B3C4-4BDA-9C64-F8594E229587}" type="presParOf" srcId="{28BD38CF-F559-45AA-A233-DADE32C9FF29}" destId="{DDE18217-08C2-4727-A903-B367DC322C8B}" srcOrd="8" destOrd="0" presId="urn:microsoft.com/office/officeart/2018/2/layout/IconCircleList"/>
    <dgm:cxn modelId="{DEB0314F-E6E8-44FB-801A-71B074DCC10C}" type="presParOf" srcId="{DDE18217-08C2-4727-A903-B367DC322C8B}" destId="{4B963129-362C-4A3E-9C20-24DA12EFEF73}" srcOrd="0" destOrd="0" presId="urn:microsoft.com/office/officeart/2018/2/layout/IconCircleList"/>
    <dgm:cxn modelId="{BBED9918-66C3-4697-9AD4-9F31A5577BBB}" type="presParOf" srcId="{DDE18217-08C2-4727-A903-B367DC322C8B}" destId="{934B0A92-8C8E-425F-B558-38B0F6568420}" srcOrd="1" destOrd="0" presId="urn:microsoft.com/office/officeart/2018/2/layout/IconCircleList"/>
    <dgm:cxn modelId="{20A659A4-F200-448B-A322-F1B2747AE918}" type="presParOf" srcId="{DDE18217-08C2-4727-A903-B367DC322C8B}" destId="{6FEF763B-5652-42E6-91C8-F1A68F229597}" srcOrd="2" destOrd="0" presId="urn:microsoft.com/office/officeart/2018/2/layout/IconCircleList"/>
    <dgm:cxn modelId="{9CA93A4B-939F-4D58-B95B-1533DA84043B}" type="presParOf" srcId="{DDE18217-08C2-4727-A903-B367DC322C8B}" destId="{AFF492FA-BC19-4213-985A-909C68889FFC}" srcOrd="3" destOrd="0" presId="urn:microsoft.com/office/officeart/2018/2/layout/IconCircleList"/>
    <dgm:cxn modelId="{2F63DAF0-B7F1-452B-9CB8-101F24446CDE}" type="presParOf" srcId="{28BD38CF-F559-45AA-A233-DADE32C9FF29}" destId="{B7033E0C-1656-4FE3-A201-64FD3CE08146}" srcOrd="9" destOrd="0" presId="urn:microsoft.com/office/officeart/2018/2/layout/IconCircleList"/>
    <dgm:cxn modelId="{C17243EF-52B7-40E1-AAE6-ED77AC274147}" type="presParOf" srcId="{28BD38CF-F559-45AA-A233-DADE32C9FF29}" destId="{45C060EB-5A02-44F2-A758-3B234D2A7159}" srcOrd="10" destOrd="0" presId="urn:microsoft.com/office/officeart/2018/2/layout/IconCircleList"/>
    <dgm:cxn modelId="{4560B881-DB71-4FAD-BEC0-8BDBAE8A91E2}" type="presParOf" srcId="{45C060EB-5A02-44F2-A758-3B234D2A7159}" destId="{E2D62DDA-FF54-47F0-AB5C-BC8CC586FB58}" srcOrd="0" destOrd="0" presId="urn:microsoft.com/office/officeart/2018/2/layout/IconCircleList"/>
    <dgm:cxn modelId="{5AE1CD05-7F65-490A-B181-ECF1DE33DA1B}" type="presParOf" srcId="{45C060EB-5A02-44F2-A758-3B234D2A7159}" destId="{10FC67C6-5FD7-41A1-AD64-69BB8E51F30F}" srcOrd="1" destOrd="0" presId="urn:microsoft.com/office/officeart/2018/2/layout/IconCircleList"/>
    <dgm:cxn modelId="{2DAB2FD2-9145-41EE-B0D9-46309B95F430}" type="presParOf" srcId="{45C060EB-5A02-44F2-A758-3B234D2A7159}" destId="{82BF8324-6E17-4898-86DB-69A0B11356D6}" srcOrd="2" destOrd="0" presId="urn:microsoft.com/office/officeart/2018/2/layout/IconCircleList"/>
    <dgm:cxn modelId="{3C14D417-A520-4CDA-A2AB-27FE566F9AED}" type="presParOf" srcId="{45C060EB-5A02-44F2-A758-3B234D2A7159}" destId="{0B089203-B9FC-422B-BAD6-A854D81E11F5}" srcOrd="3" destOrd="0" presId="urn:microsoft.com/office/officeart/2018/2/layout/IconCircleList"/>
    <dgm:cxn modelId="{E61F9AA1-E8DB-4E44-A216-6E4A45658DCA}" type="presParOf" srcId="{28BD38CF-F559-45AA-A233-DADE32C9FF29}" destId="{B0D67168-8FBA-40B9-A4F6-038E792DE60D}" srcOrd="11" destOrd="0" presId="urn:microsoft.com/office/officeart/2018/2/layout/IconCircleList"/>
    <dgm:cxn modelId="{B1320B1A-B42A-4870-83FF-360F287787BA}" type="presParOf" srcId="{28BD38CF-F559-45AA-A233-DADE32C9FF29}" destId="{1C386244-BBB4-49E9-B7AB-7E819641E15B}" srcOrd="12" destOrd="0" presId="urn:microsoft.com/office/officeart/2018/2/layout/IconCircleList"/>
    <dgm:cxn modelId="{8DC61299-A063-49B7-9957-F1918149CACA}" type="presParOf" srcId="{1C386244-BBB4-49E9-B7AB-7E819641E15B}" destId="{DB02667F-C964-447D-A945-4F9DD5C7CD5A}" srcOrd="0" destOrd="0" presId="urn:microsoft.com/office/officeart/2018/2/layout/IconCircleList"/>
    <dgm:cxn modelId="{A8378C94-41C0-408B-BB05-A00B9FD0A9B5}" type="presParOf" srcId="{1C386244-BBB4-49E9-B7AB-7E819641E15B}" destId="{76562BCA-DBF8-4624-9B25-B2F426F0925D}" srcOrd="1" destOrd="0" presId="urn:microsoft.com/office/officeart/2018/2/layout/IconCircleList"/>
    <dgm:cxn modelId="{7D2A4BF3-C69F-4850-829A-396EF8DD5A69}" type="presParOf" srcId="{1C386244-BBB4-49E9-B7AB-7E819641E15B}" destId="{7AA952D2-5C42-487C-A6F2-58FF6D648489}" srcOrd="2" destOrd="0" presId="urn:microsoft.com/office/officeart/2018/2/layout/IconCircleList"/>
    <dgm:cxn modelId="{B03E3C3C-4274-4D4B-90CC-ECA36A664440}" type="presParOf" srcId="{1C386244-BBB4-49E9-B7AB-7E819641E15B}" destId="{3A74E32F-72C4-49A7-AC27-E1F82A2D0EB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365072-2302-4754-8898-F2D779450ECF}">
      <dsp:nvSpPr>
        <dsp:cNvPr id="0" name=""/>
        <dsp:cNvSpPr/>
      </dsp:nvSpPr>
      <dsp:spPr>
        <a:xfrm>
          <a:off x="191458" y="149985"/>
          <a:ext cx="800575" cy="80057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E015A4-9DDF-4ED4-8C1E-98DBC1B468B9}">
      <dsp:nvSpPr>
        <dsp:cNvPr id="0" name=""/>
        <dsp:cNvSpPr/>
      </dsp:nvSpPr>
      <dsp:spPr>
        <a:xfrm>
          <a:off x="359579" y="318106"/>
          <a:ext cx="464334" cy="4643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EE5A2F1-E196-4331-9758-DCD4EB7DF3D4}">
      <dsp:nvSpPr>
        <dsp:cNvPr id="0" name=""/>
        <dsp:cNvSpPr/>
      </dsp:nvSpPr>
      <dsp:spPr>
        <a:xfrm>
          <a:off x="1163586" y="149985"/>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Recommendations</a:t>
          </a:r>
          <a:endParaRPr lang="en-US" sz="1100" kern="1200"/>
        </a:p>
      </dsp:txBody>
      <dsp:txXfrm>
        <a:off x="1163586" y="149985"/>
        <a:ext cx="1887071" cy="800575"/>
      </dsp:txXfrm>
    </dsp:sp>
    <dsp:sp modelId="{EFF4E20D-E5A0-47F5-BC96-1288BAAF8D64}">
      <dsp:nvSpPr>
        <dsp:cNvPr id="0" name=""/>
        <dsp:cNvSpPr/>
      </dsp:nvSpPr>
      <dsp:spPr>
        <a:xfrm>
          <a:off x="3379466" y="149985"/>
          <a:ext cx="800575" cy="80057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0D9689-A3D9-4780-90B1-640A9586CBD1}">
      <dsp:nvSpPr>
        <dsp:cNvPr id="0" name=""/>
        <dsp:cNvSpPr/>
      </dsp:nvSpPr>
      <dsp:spPr>
        <a:xfrm>
          <a:off x="3547587" y="318106"/>
          <a:ext cx="464334" cy="4643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4181AB9-CFD8-4B8A-871A-9D146CFE3D5B}">
      <dsp:nvSpPr>
        <dsp:cNvPr id="0" name=""/>
        <dsp:cNvSpPr/>
      </dsp:nvSpPr>
      <dsp:spPr>
        <a:xfrm>
          <a:off x="4351594" y="149985"/>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 Maintain sufficient inventory for Electronics products, especially Laptops and Mobiles, to meet customer demand and avoid stock shortages.</a:t>
          </a:r>
          <a:endParaRPr lang="en-US" sz="1100" kern="1200"/>
        </a:p>
      </dsp:txBody>
      <dsp:txXfrm>
        <a:off x="4351594" y="149985"/>
        <a:ext cx="1887071" cy="800575"/>
      </dsp:txXfrm>
    </dsp:sp>
    <dsp:sp modelId="{A83AA5AC-490A-4E59-834E-A304441DCE36}">
      <dsp:nvSpPr>
        <dsp:cNvPr id="0" name=""/>
        <dsp:cNvSpPr/>
      </dsp:nvSpPr>
      <dsp:spPr>
        <a:xfrm>
          <a:off x="6567474" y="149985"/>
          <a:ext cx="800575" cy="80057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927F79-A457-4F18-A588-98B4DB48BA3A}">
      <dsp:nvSpPr>
        <dsp:cNvPr id="0" name=""/>
        <dsp:cNvSpPr/>
      </dsp:nvSpPr>
      <dsp:spPr>
        <a:xfrm>
          <a:off x="6735595" y="318106"/>
          <a:ext cx="464334" cy="4643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C1F0A45-A6B3-44CB-BED0-1FF658C000A9}">
      <dsp:nvSpPr>
        <dsp:cNvPr id="0" name=""/>
        <dsp:cNvSpPr/>
      </dsp:nvSpPr>
      <dsp:spPr>
        <a:xfrm>
          <a:off x="7539602" y="149985"/>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 Increase marketing efforts in high-performing cities such as Patna, while creating targeted campaigns to improve sales in lower-performing cities.</a:t>
          </a:r>
          <a:endParaRPr lang="en-US" sz="1100" kern="1200"/>
        </a:p>
      </dsp:txBody>
      <dsp:txXfrm>
        <a:off x="7539602" y="149985"/>
        <a:ext cx="1887071" cy="800575"/>
      </dsp:txXfrm>
    </dsp:sp>
    <dsp:sp modelId="{8ADE65D1-ABDD-4DF4-B163-6D2EE167C599}">
      <dsp:nvSpPr>
        <dsp:cNvPr id="0" name=""/>
        <dsp:cNvSpPr/>
      </dsp:nvSpPr>
      <dsp:spPr>
        <a:xfrm>
          <a:off x="191458" y="1646453"/>
          <a:ext cx="800575" cy="80057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F68178-C24B-4062-A378-F8732A8852D2}">
      <dsp:nvSpPr>
        <dsp:cNvPr id="0" name=""/>
        <dsp:cNvSpPr/>
      </dsp:nvSpPr>
      <dsp:spPr>
        <a:xfrm>
          <a:off x="359579" y="1814573"/>
          <a:ext cx="464334" cy="4643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4174D36-B4D2-44B0-9183-86BF85B62EE7}">
      <dsp:nvSpPr>
        <dsp:cNvPr id="0" name=""/>
        <dsp:cNvSpPr/>
      </dsp:nvSpPr>
      <dsp:spPr>
        <a:xfrm>
          <a:off x="1163586" y="1646453"/>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 Develop promotional offers for lower-performing product categories to increase customer interest and boost sales.</a:t>
          </a:r>
          <a:endParaRPr lang="en-US" sz="1100" kern="1200"/>
        </a:p>
      </dsp:txBody>
      <dsp:txXfrm>
        <a:off x="1163586" y="1646453"/>
        <a:ext cx="1887071" cy="800575"/>
      </dsp:txXfrm>
    </dsp:sp>
    <dsp:sp modelId="{4B963129-362C-4A3E-9C20-24DA12EFEF73}">
      <dsp:nvSpPr>
        <dsp:cNvPr id="0" name=""/>
        <dsp:cNvSpPr/>
      </dsp:nvSpPr>
      <dsp:spPr>
        <a:xfrm>
          <a:off x="3379466" y="1646453"/>
          <a:ext cx="800575" cy="800575"/>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4B0A92-8C8E-425F-B558-38B0F6568420}">
      <dsp:nvSpPr>
        <dsp:cNvPr id="0" name=""/>
        <dsp:cNvSpPr/>
      </dsp:nvSpPr>
      <dsp:spPr>
        <a:xfrm>
          <a:off x="3547587" y="1814573"/>
          <a:ext cx="464334" cy="4643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FF492FA-BC19-4213-985A-909C68889FFC}">
      <dsp:nvSpPr>
        <dsp:cNvPr id="0" name=""/>
        <dsp:cNvSpPr/>
      </dsp:nvSpPr>
      <dsp:spPr>
        <a:xfrm>
          <a:off x="4351594" y="1646453"/>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 Analyze customer purchasing behavior regularly to identify buying trends and personalize marketing strategies.</a:t>
          </a:r>
          <a:endParaRPr lang="en-US" sz="1100" kern="1200"/>
        </a:p>
      </dsp:txBody>
      <dsp:txXfrm>
        <a:off x="4351594" y="1646453"/>
        <a:ext cx="1887071" cy="800575"/>
      </dsp:txXfrm>
    </dsp:sp>
    <dsp:sp modelId="{E2D62DDA-FF54-47F0-AB5C-BC8CC586FB58}">
      <dsp:nvSpPr>
        <dsp:cNvPr id="0" name=""/>
        <dsp:cNvSpPr/>
      </dsp:nvSpPr>
      <dsp:spPr>
        <a:xfrm>
          <a:off x="6567474" y="1646453"/>
          <a:ext cx="800575" cy="80057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FC67C6-5FD7-41A1-AD64-69BB8E51F30F}">
      <dsp:nvSpPr>
        <dsp:cNvPr id="0" name=""/>
        <dsp:cNvSpPr/>
      </dsp:nvSpPr>
      <dsp:spPr>
        <a:xfrm>
          <a:off x="6735595" y="1814573"/>
          <a:ext cx="464334" cy="4643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B089203-B9FC-422B-BAD6-A854D81E11F5}">
      <dsp:nvSpPr>
        <dsp:cNvPr id="0" name=""/>
        <dsp:cNvSpPr/>
      </dsp:nvSpPr>
      <dsp:spPr>
        <a:xfrm>
          <a:off x="7539602" y="1646453"/>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 Monitor sales performance using the Power BI dashboard to support timely, data-driven business decisions.</a:t>
          </a:r>
          <a:endParaRPr lang="en-US" sz="1100" kern="1200"/>
        </a:p>
      </dsp:txBody>
      <dsp:txXfrm>
        <a:off x="7539602" y="1646453"/>
        <a:ext cx="1887071" cy="800575"/>
      </dsp:txXfrm>
    </dsp:sp>
    <dsp:sp modelId="{DB02667F-C964-447D-A945-4F9DD5C7CD5A}">
      <dsp:nvSpPr>
        <dsp:cNvPr id="0" name=""/>
        <dsp:cNvSpPr/>
      </dsp:nvSpPr>
      <dsp:spPr>
        <a:xfrm>
          <a:off x="191458" y="3142920"/>
          <a:ext cx="800575" cy="80057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562BCA-DBF8-4624-9B25-B2F426F0925D}">
      <dsp:nvSpPr>
        <dsp:cNvPr id="0" name=""/>
        <dsp:cNvSpPr/>
      </dsp:nvSpPr>
      <dsp:spPr>
        <a:xfrm>
          <a:off x="359579" y="3311041"/>
          <a:ext cx="464334" cy="4643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A74E32F-72C4-49A7-AC27-E1F82A2D0EB0}">
      <dsp:nvSpPr>
        <dsp:cNvPr id="0" name=""/>
        <dsp:cNvSpPr/>
      </dsp:nvSpPr>
      <dsp:spPr>
        <a:xfrm>
          <a:off x="1163586" y="3142920"/>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 Use sales trends to improve inventory planning, ensuring that high-demand products are always available.</a:t>
          </a:r>
          <a:endParaRPr lang="en-US" sz="1100" kern="1200"/>
        </a:p>
      </dsp:txBody>
      <dsp:txXfrm>
        <a:off x="1163586" y="3142920"/>
        <a:ext cx="1887071" cy="800575"/>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FAB439-4714-49D5-811F-2A0F3E74799D}" type="datetimeFigureOut">
              <a:rPr lang="en-IN" smtClean="0"/>
              <a:t>17-07-2026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E8F54C-C21E-4602-8679-C47C8922D4B6}" type="slidenum">
              <a:rPr lang="en-IN" smtClean="0"/>
              <a:t>‹#›</a:t>
            </a:fld>
            <a:endParaRPr lang="en-IN"/>
          </a:p>
        </p:txBody>
      </p:sp>
    </p:spTree>
    <p:extLst>
      <p:ext uri="{BB962C8B-B14F-4D97-AF65-F5344CB8AC3E}">
        <p14:creationId xmlns:p14="http://schemas.microsoft.com/office/powerpoint/2010/main" val="475272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4548C4-FC10-4B6F-8712-A09D5BB86CD3}"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3748328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4548C4-FC10-4B6F-8712-A09D5BB86CD3}"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3942636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4548C4-FC10-4B6F-8712-A09D5BB86CD3}"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3117058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A4548C4-FC10-4B6F-8712-A09D5BB86CD3}"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4057439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4548C4-FC10-4B6F-8712-A09D5BB86CD3}" type="datetimeFigureOut">
              <a:rPr lang="en-IN" smtClean="0"/>
              <a:t>17-07-2026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3608829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4548C4-FC10-4B6F-8712-A09D5BB86CD3}" type="datetimeFigureOut">
              <a:rPr lang="en-IN" smtClean="0"/>
              <a:t>17-07-2026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3290929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4548C4-FC10-4B6F-8712-A09D5BB86CD3}" type="datetimeFigureOut">
              <a:rPr lang="en-IN" smtClean="0"/>
              <a:t>17-07-2026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1604924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A4548C4-FC10-4B6F-8712-A09D5BB86CD3}"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278813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4548C4-FC10-4B6F-8712-A09D5BB86CD3}"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2360342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4548C4-FC10-4B6F-8712-A09D5BB86CD3}"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2632195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4548C4-FC10-4B6F-8712-A09D5BB86CD3}"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876129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4548C4-FC10-4B6F-8712-A09D5BB86CD3}"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3869537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4548C4-FC10-4B6F-8712-A09D5BB86CD3}"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305289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4548C4-FC10-4B6F-8712-A09D5BB86CD3}"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22189099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4548C4-FC10-4B6F-8712-A09D5BB86CD3}"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3425819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4548C4-FC10-4B6F-8712-A09D5BB86CD3}"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771510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A4548C4-FC10-4B6F-8712-A09D5BB86CD3}" type="datetimeFigureOut">
              <a:rPr lang="en-IN" smtClean="0"/>
              <a:t>17-07-2026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F2A00F2-F522-4C34-B8C3-A32B7D3CE275}" type="slidenum">
              <a:rPr lang="en-IN" smtClean="0"/>
              <a:t>‹#›</a:t>
            </a:fld>
            <a:endParaRPr lang="en-IN"/>
          </a:p>
        </p:txBody>
      </p:sp>
    </p:spTree>
    <p:extLst>
      <p:ext uri="{BB962C8B-B14F-4D97-AF65-F5344CB8AC3E}">
        <p14:creationId xmlns:p14="http://schemas.microsoft.com/office/powerpoint/2010/main" val="6523776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descr="Magnifying glass showing decling performance">
            <a:extLst>
              <a:ext uri="{FF2B5EF4-FFF2-40B4-BE49-F238E27FC236}">
                <a16:creationId xmlns:a16="http://schemas.microsoft.com/office/drawing/2014/main" id="{B10196EF-B229-2EAC-123E-64D70AF0D587}"/>
              </a:ext>
            </a:extLst>
          </p:cNvPr>
          <p:cNvPicPr>
            <a:picLocks noChangeAspect="1"/>
          </p:cNvPicPr>
          <p:nvPr/>
        </p:nvPicPr>
        <p:blipFill>
          <a:blip r:embed="rId2"/>
          <a:srcRect r="22891" b="-2"/>
          <a:stretch>
            <a:fillRect/>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F0E6FFEE-A21F-F7D7-7D15-E6BE27947B8E}"/>
              </a:ext>
            </a:extLst>
          </p:cNvPr>
          <p:cNvSpPr>
            <a:spLocks noGrp="1"/>
          </p:cNvSpPr>
          <p:nvPr>
            <p:ph type="title"/>
          </p:nvPr>
        </p:nvSpPr>
        <p:spPr>
          <a:xfrm>
            <a:off x="677333" y="609600"/>
            <a:ext cx="3851123" cy="1320800"/>
          </a:xfrm>
        </p:spPr>
        <p:txBody>
          <a:bodyPr>
            <a:normAutofit/>
          </a:bodyPr>
          <a:lstStyle/>
          <a:p>
            <a:pPr>
              <a:lnSpc>
                <a:spcPct val="90000"/>
              </a:lnSpc>
            </a:pPr>
            <a:r>
              <a:rPr lang="en-IN" sz="2800" b="1">
                <a:latin typeface="Bahnschrift Light SemiCondensed" panose="020B0502040204020203" pitchFamily="34" charset="0"/>
              </a:rPr>
              <a:t>Sales Performance Analysis Using Python, SQL &amp; Power BI</a:t>
            </a:r>
          </a:p>
        </p:txBody>
      </p:sp>
      <p:sp>
        <p:nvSpPr>
          <p:cNvPr id="3" name="Content Placeholder 2">
            <a:extLst>
              <a:ext uri="{FF2B5EF4-FFF2-40B4-BE49-F238E27FC236}">
                <a16:creationId xmlns:a16="http://schemas.microsoft.com/office/drawing/2014/main" id="{F17E65CC-6248-C5D7-E733-605AEAEDC5C8}"/>
              </a:ext>
            </a:extLst>
          </p:cNvPr>
          <p:cNvSpPr>
            <a:spLocks noGrp="1"/>
          </p:cNvSpPr>
          <p:nvPr>
            <p:ph idx="1"/>
          </p:nvPr>
        </p:nvSpPr>
        <p:spPr>
          <a:xfrm>
            <a:off x="677334" y="2160589"/>
            <a:ext cx="3851122" cy="3880773"/>
          </a:xfrm>
        </p:spPr>
        <p:txBody>
          <a:bodyPr>
            <a:normAutofit/>
          </a:bodyPr>
          <a:lstStyle/>
          <a:p>
            <a:pPr marL="0" indent="0">
              <a:lnSpc>
                <a:spcPct val="90000"/>
              </a:lnSpc>
              <a:buNone/>
            </a:pPr>
            <a:r>
              <a:rPr lang="en-IN" sz="1300" b="1"/>
              <a:t>Subtitle : </a:t>
            </a:r>
            <a:r>
              <a:rPr lang="en-IN" sz="1300"/>
              <a:t>Data Storytelling &amp; Statistical Validation</a:t>
            </a:r>
          </a:p>
          <a:p>
            <a:pPr marL="0" indent="0">
              <a:lnSpc>
                <a:spcPct val="90000"/>
              </a:lnSpc>
              <a:buNone/>
            </a:pPr>
            <a:r>
              <a:rPr lang="en-IN" sz="1300" b="1"/>
              <a:t>Project Information:</a:t>
            </a:r>
          </a:p>
          <a:p>
            <a:pPr marL="0" indent="0">
              <a:lnSpc>
                <a:spcPct val="90000"/>
              </a:lnSpc>
              <a:buNone/>
            </a:pPr>
            <a:r>
              <a:rPr lang="en-IN" sz="1300" b="1"/>
              <a:t>Prepared By:</a:t>
            </a:r>
          </a:p>
          <a:p>
            <a:pPr marL="0" indent="0">
              <a:lnSpc>
                <a:spcPct val="90000"/>
              </a:lnSpc>
              <a:buNone/>
            </a:pPr>
            <a:r>
              <a:rPr lang="en-IN" sz="1300"/>
              <a:t>Cherukuri Bhavya Sree</a:t>
            </a:r>
          </a:p>
          <a:p>
            <a:pPr marL="0" indent="0">
              <a:lnSpc>
                <a:spcPct val="90000"/>
              </a:lnSpc>
              <a:buNone/>
            </a:pPr>
            <a:r>
              <a:rPr lang="en-IN" sz="1300" b="1"/>
              <a:t>Internship:</a:t>
            </a:r>
          </a:p>
          <a:p>
            <a:pPr marL="0" indent="0">
              <a:lnSpc>
                <a:spcPct val="90000"/>
              </a:lnSpc>
              <a:buNone/>
            </a:pPr>
            <a:r>
              <a:rPr lang="en-IN" sz="1300"/>
              <a:t>ApexPlanet Software Pvt. Ltd</a:t>
            </a:r>
          </a:p>
          <a:p>
            <a:pPr marL="0" indent="0">
              <a:lnSpc>
                <a:spcPct val="90000"/>
              </a:lnSpc>
              <a:buNone/>
            </a:pPr>
            <a:r>
              <a:rPr lang="en-IN" sz="1300" b="1"/>
              <a:t>Role:</a:t>
            </a:r>
          </a:p>
          <a:p>
            <a:pPr marL="0" indent="0">
              <a:lnSpc>
                <a:spcPct val="90000"/>
              </a:lnSpc>
              <a:buNone/>
            </a:pPr>
            <a:r>
              <a:rPr lang="en-IN" sz="1300"/>
              <a:t>Data Analystics Intern</a:t>
            </a:r>
          </a:p>
          <a:p>
            <a:pPr marL="0" indent="0">
              <a:lnSpc>
                <a:spcPct val="90000"/>
              </a:lnSpc>
              <a:buNone/>
            </a:pPr>
            <a:r>
              <a:rPr lang="en-IN" sz="1300" b="1"/>
              <a:t>Tools Used: </a:t>
            </a:r>
          </a:p>
          <a:p>
            <a:pPr marL="0" indent="0">
              <a:lnSpc>
                <a:spcPct val="90000"/>
              </a:lnSpc>
              <a:buNone/>
            </a:pPr>
            <a:r>
              <a:rPr lang="en-IN" sz="1300"/>
              <a:t>Python, SQL, Power BI, Excel</a:t>
            </a:r>
          </a:p>
          <a:p>
            <a:pPr marL="0" indent="0">
              <a:lnSpc>
                <a:spcPct val="90000"/>
              </a:lnSpc>
              <a:buNone/>
            </a:pPr>
            <a:r>
              <a:rPr lang="en-IN" sz="1300" b="1"/>
              <a:t>Date: </a:t>
            </a:r>
          </a:p>
          <a:p>
            <a:pPr marL="0" indent="0">
              <a:lnSpc>
                <a:spcPct val="90000"/>
              </a:lnSpc>
              <a:buNone/>
            </a:pPr>
            <a:r>
              <a:rPr lang="en-IN" sz="1300"/>
              <a:t>July 2026</a:t>
            </a:r>
          </a:p>
          <a:p>
            <a:pPr marL="0" indent="0">
              <a:lnSpc>
                <a:spcPct val="90000"/>
              </a:lnSpc>
              <a:buNone/>
            </a:pPr>
            <a:endParaRPr lang="en-IN" sz="1300"/>
          </a:p>
          <a:p>
            <a:pPr marL="0" indent="0">
              <a:lnSpc>
                <a:spcPct val="90000"/>
              </a:lnSpc>
              <a:buNone/>
            </a:pPr>
            <a:endParaRPr lang="en-IN" sz="1300" b="1" dirty="0"/>
          </a:p>
        </p:txBody>
      </p:sp>
      <p:cxnSp>
        <p:nvCxnSpPr>
          <p:cNvPr id="21" name="Straight Connector 20">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7"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782721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Desk with productivity items">
            <a:extLst>
              <a:ext uri="{FF2B5EF4-FFF2-40B4-BE49-F238E27FC236}">
                <a16:creationId xmlns:a16="http://schemas.microsoft.com/office/drawing/2014/main" id="{987BC732-5323-F798-AA3C-DAD3E67C6F90}"/>
              </a:ext>
            </a:extLst>
          </p:cNvPr>
          <p:cNvPicPr>
            <a:picLocks noChangeAspect="1"/>
          </p:cNvPicPr>
          <p:nvPr/>
        </p:nvPicPr>
        <p:blipFill>
          <a:blip r:embed="rId2">
            <a:duotone>
              <a:prstClr val="black"/>
              <a:schemeClr val="tx2">
                <a:tint val="45000"/>
                <a:satMod val="400000"/>
              </a:schemeClr>
            </a:duotone>
            <a:alphaModFix amt="40000"/>
          </a:blip>
          <a:srcRect b="1573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CD4316BE-0B17-B03E-4C52-BF131DA7086E}"/>
              </a:ext>
            </a:extLst>
          </p:cNvPr>
          <p:cNvSpPr>
            <a:spLocks noGrp="1"/>
          </p:cNvSpPr>
          <p:nvPr>
            <p:ph type="title"/>
          </p:nvPr>
        </p:nvSpPr>
        <p:spPr/>
        <p:txBody>
          <a:bodyPr>
            <a:normAutofit/>
          </a:bodyPr>
          <a:lstStyle/>
          <a:p>
            <a:r>
              <a:rPr lang="en-US"/>
              <a:t>Business Problem &amp; Objectives</a:t>
            </a:r>
            <a:br>
              <a:rPr lang="en-US"/>
            </a:br>
            <a:endParaRPr lang="en-IN"/>
          </a:p>
        </p:txBody>
      </p:sp>
      <p:sp>
        <p:nvSpPr>
          <p:cNvPr id="3" name="Content Placeholder 2">
            <a:extLst>
              <a:ext uri="{FF2B5EF4-FFF2-40B4-BE49-F238E27FC236}">
                <a16:creationId xmlns:a16="http://schemas.microsoft.com/office/drawing/2014/main" id="{41FF96D9-8236-38E2-9811-3877D5EAE94C}"/>
              </a:ext>
            </a:extLst>
          </p:cNvPr>
          <p:cNvSpPr>
            <a:spLocks noGrp="1"/>
          </p:cNvSpPr>
          <p:nvPr>
            <p:ph sz="half" idx="1"/>
          </p:nvPr>
        </p:nvSpPr>
        <p:spPr>
          <a:xfrm>
            <a:off x="677334" y="1592826"/>
            <a:ext cx="4184035" cy="4448535"/>
          </a:xfrm>
        </p:spPr>
        <p:txBody>
          <a:bodyPr>
            <a:normAutofit fontScale="92500" lnSpcReduction="10000"/>
          </a:bodyPr>
          <a:lstStyle/>
          <a:p>
            <a:pPr marL="0" indent="0">
              <a:lnSpc>
                <a:spcPct val="90000"/>
              </a:lnSpc>
              <a:buNone/>
            </a:pPr>
            <a:r>
              <a:rPr lang="en-US" b="1" dirty="0">
                <a:solidFill>
                  <a:srgbClr val="FFFFFF"/>
                </a:solidFill>
              </a:rPr>
              <a:t>Business Problem</a:t>
            </a:r>
          </a:p>
          <a:p>
            <a:pPr marL="0" indent="0">
              <a:lnSpc>
                <a:spcPct val="90000"/>
              </a:lnSpc>
              <a:buNone/>
            </a:pPr>
            <a:r>
              <a:rPr lang="en-US" sz="700" dirty="0">
                <a:solidFill>
                  <a:srgbClr val="FFFFFF"/>
                </a:solidFill>
              </a:rPr>
              <a:t> </a:t>
            </a:r>
            <a:r>
              <a:rPr lang="en-US" sz="1400" dirty="0">
                <a:solidFill>
                  <a:srgbClr val="FFFFFF"/>
                </a:solidFill>
              </a:rPr>
              <a:t>The company wants to analyze its sales data to understand customer purchasing behavior, product performance, and sales trends. The goal is to identify the key factors affecting total sales and use data-driven insights to improve business performance and decision-making.</a:t>
            </a:r>
            <a:endParaRPr lang="en-US" sz="1400" b="1" dirty="0">
              <a:solidFill>
                <a:srgbClr val="FFFFFF"/>
              </a:solidFill>
            </a:endParaRPr>
          </a:p>
          <a:p>
            <a:pPr marL="0" indent="0">
              <a:lnSpc>
                <a:spcPct val="90000"/>
              </a:lnSpc>
              <a:buNone/>
            </a:pPr>
            <a:r>
              <a:rPr lang="en-US" b="1" dirty="0">
                <a:solidFill>
                  <a:srgbClr val="FFFFFF"/>
                </a:solidFill>
              </a:rPr>
              <a:t>Project Objectives</a:t>
            </a:r>
          </a:p>
          <a:p>
            <a:pPr>
              <a:lnSpc>
                <a:spcPct val="90000"/>
              </a:lnSpc>
            </a:pPr>
            <a:r>
              <a:rPr lang="en-US" sz="1400" b="1" dirty="0">
                <a:solidFill>
                  <a:srgbClr val="FFFFFF"/>
                </a:solidFill>
              </a:rPr>
              <a:t>Analyze overall sales performance.</a:t>
            </a:r>
          </a:p>
          <a:p>
            <a:pPr>
              <a:lnSpc>
                <a:spcPct val="90000"/>
              </a:lnSpc>
            </a:pPr>
            <a:r>
              <a:rPr lang="en-US" sz="1400" dirty="0">
                <a:solidFill>
                  <a:srgbClr val="FFFFFF"/>
                </a:solidFill>
              </a:rPr>
              <a:t>Identify top-selling products and categories.</a:t>
            </a:r>
          </a:p>
          <a:p>
            <a:pPr>
              <a:lnSpc>
                <a:spcPct val="90000"/>
              </a:lnSpc>
            </a:pPr>
            <a:r>
              <a:rPr lang="en-US" sz="1400" dirty="0">
                <a:solidFill>
                  <a:srgbClr val="FFFFFF"/>
                </a:solidFill>
              </a:rPr>
              <a:t>Understand customer purchasing behavior based on age, gender, and city.</a:t>
            </a:r>
          </a:p>
          <a:p>
            <a:pPr>
              <a:lnSpc>
                <a:spcPct val="90000"/>
              </a:lnSpc>
            </a:pPr>
            <a:r>
              <a:rPr lang="en-US" sz="1400" dirty="0">
                <a:solidFill>
                  <a:srgbClr val="FFFFFF"/>
                </a:solidFill>
              </a:rPr>
              <a:t>Analyze sales trends over time.</a:t>
            </a:r>
          </a:p>
          <a:p>
            <a:pPr>
              <a:lnSpc>
                <a:spcPct val="90000"/>
              </a:lnSpc>
            </a:pPr>
            <a:r>
              <a:rPr lang="en-US" sz="1400" dirty="0">
                <a:solidFill>
                  <a:srgbClr val="FFFFFF"/>
                </a:solidFill>
              </a:rPr>
              <a:t>Compare sales performance across different cities.</a:t>
            </a:r>
          </a:p>
          <a:p>
            <a:pPr>
              <a:lnSpc>
                <a:spcPct val="90000"/>
              </a:lnSpc>
            </a:pPr>
            <a:r>
              <a:rPr lang="en-US" sz="1400" dirty="0">
                <a:solidFill>
                  <a:srgbClr val="FFFFFF"/>
                </a:solidFill>
              </a:rPr>
              <a:t>Generate business insights using Python, SQL, and Power BI.</a:t>
            </a:r>
          </a:p>
          <a:p>
            <a:pPr>
              <a:lnSpc>
                <a:spcPct val="90000"/>
              </a:lnSpc>
            </a:pPr>
            <a:r>
              <a:rPr lang="en-US" sz="1400" dirty="0">
                <a:solidFill>
                  <a:srgbClr val="FFFFFF"/>
                </a:solidFill>
              </a:rPr>
              <a:t>Provide recommendations to improve sales performance</a:t>
            </a:r>
            <a:r>
              <a:rPr lang="en-US" sz="1100" dirty="0">
                <a:solidFill>
                  <a:srgbClr val="FFFFFF"/>
                </a:solidFill>
              </a:rPr>
              <a:t>.</a:t>
            </a:r>
          </a:p>
        </p:txBody>
      </p:sp>
      <p:sp>
        <p:nvSpPr>
          <p:cNvPr id="4" name="Content Placeholder 3">
            <a:extLst>
              <a:ext uri="{FF2B5EF4-FFF2-40B4-BE49-F238E27FC236}">
                <a16:creationId xmlns:a16="http://schemas.microsoft.com/office/drawing/2014/main" id="{0DD05E9C-E2C6-D505-188B-7D099AF1AB14}"/>
              </a:ext>
            </a:extLst>
          </p:cNvPr>
          <p:cNvSpPr>
            <a:spLocks noGrp="1"/>
          </p:cNvSpPr>
          <p:nvPr>
            <p:ph sz="half" idx="2"/>
          </p:nvPr>
        </p:nvSpPr>
        <p:spPr>
          <a:xfrm>
            <a:off x="5935544" y="1930400"/>
            <a:ext cx="4184034" cy="3880773"/>
          </a:xfrm>
        </p:spPr>
        <p:txBody>
          <a:bodyPr>
            <a:normAutofit fontScale="92500" lnSpcReduction="10000"/>
          </a:bodyPr>
          <a:lstStyle/>
          <a:p>
            <a:pPr marL="0" indent="0">
              <a:lnSpc>
                <a:spcPct val="90000"/>
              </a:lnSpc>
              <a:buNone/>
            </a:pPr>
            <a:r>
              <a:rPr lang="en-US" b="1" dirty="0">
                <a:solidFill>
                  <a:srgbClr val="FFFFFF"/>
                </a:solidFill>
              </a:rPr>
              <a:t>Why This Analysis Is Important</a:t>
            </a:r>
            <a:endParaRPr lang="en-US" dirty="0">
              <a:solidFill>
                <a:srgbClr val="FFFFFF"/>
              </a:solidFill>
            </a:endParaRPr>
          </a:p>
          <a:p>
            <a:pPr>
              <a:lnSpc>
                <a:spcPct val="90000"/>
              </a:lnSpc>
            </a:pPr>
            <a:r>
              <a:rPr lang="en-US" sz="1400" dirty="0">
                <a:solidFill>
                  <a:srgbClr val="FFFFFF"/>
                </a:solidFill>
              </a:rPr>
              <a:t>Improve overall sales and revenue.</a:t>
            </a:r>
          </a:p>
          <a:p>
            <a:pPr>
              <a:lnSpc>
                <a:spcPct val="90000"/>
              </a:lnSpc>
            </a:pPr>
            <a:r>
              <a:rPr lang="en-US" sz="1400" dirty="0">
                <a:solidFill>
                  <a:srgbClr val="FFFFFF"/>
                </a:solidFill>
              </a:rPr>
              <a:t>Understand customer buying patterns.</a:t>
            </a:r>
          </a:p>
          <a:p>
            <a:pPr>
              <a:lnSpc>
                <a:spcPct val="90000"/>
              </a:lnSpc>
            </a:pPr>
            <a:r>
              <a:rPr lang="en-US" sz="1400" dirty="0">
                <a:solidFill>
                  <a:srgbClr val="FFFFFF"/>
                </a:solidFill>
              </a:rPr>
              <a:t>Identify the best-performing products and categories.</a:t>
            </a:r>
          </a:p>
          <a:p>
            <a:pPr>
              <a:lnSpc>
                <a:spcPct val="90000"/>
              </a:lnSpc>
            </a:pPr>
            <a:r>
              <a:rPr lang="en-US" sz="1400" dirty="0">
                <a:solidFill>
                  <a:srgbClr val="FFFFFF"/>
                </a:solidFill>
              </a:rPr>
              <a:t>Support better inventory planning.</a:t>
            </a:r>
          </a:p>
          <a:p>
            <a:pPr>
              <a:lnSpc>
                <a:spcPct val="90000"/>
              </a:lnSpc>
            </a:pPr>
            <a:r>
              <a:rPr lang="en-US" sz="1400" dirty="0">
                <a:solidFill>
                  <a:srgbClr val="FFFFFF"/>
                </a:solidFill>
              </a:rPr>
              <a:t>Help management make data-driven business decisions.</a:t>
            </a:r>
          </a:p>
          <a:p>
            <a:pPr>
              <a:lnSpc>
                <a:spcPct val="90000"/>
              </a:lnSpc>
            </a:pPr>
            <a:r>
              <a:rPr lang="en-US" sz="1400" dirty="0">
                <a:solidFill>
                  <a:srgbClr val="FFFFFF"/>
                </a:solidFill>
              </a:rPr>
              <a:t>Improve marketing strategies based on customer insights.</a:t>
            </a:r>
            <a:endParaRPr lang="en-IN" sz="1400" dirty="0"/>
          </a:p>
        </p:txBody>
      </p:sp>
    </p:spTree>
    <p:extLst>
      <p:ext uri="{BB962C8B-B14F-4D97-AF65-F5344CB8AC3E}">
        <p14:creationId xmlns:p14="http://schemas.microsoft.com/office/powerpoint/2010/main" val="7164399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5" name="Straight Connector 14">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7"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6" name="Rectangle 25">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Isosceles Triangle 29">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D003F93C-B419-82BC-A989-0D293274B5EF}"/>
              </a:ext>
            </a:extLst>
          </p:cNvPr>
          <p:cNvSpPr>
            <a:spLocks noGrp="1"/>
          </p:cNvSpPr>
          <p:nvPr>
            <p:ph type="title"/>
          </p:nvPr>
        </p:nvSpPr>
        <p:spPr>
          <a:xfrm>
            <a:off x="673754" y="643467"/>
            <a:ext cx="4203045" cy="1375608"/>
          </a:xfrm>
        </p:spPr>
        <p:txBody>
          <a:bodyPr vert="horz" lIns="91440" tIns="45720" rIns="91440" bIns="45720" rtlCol="0" anchor="ctr">
            <a:normAutofit/>
          </a:bodyPr>
          <a:lstStyle/>
          <a:p>
            <a:r>
              <a:rPr lang="en-US" b="1">
                <a:solidFill>
                  <a:schemeClr val="bg1"/>
                </a:solidFill>
              </a:rPr>
              <a:t>Dataset Overview</a:t>
            </a:r>
          </a:p>
        </p:txBody>
      </p:sp>
      <p:sp>
        <p:nvSpPr>
          <p:cNvPr id="5" name="Content Placeholder 4">
            <a:extLst>
              <a:ext uri="{FF2B5EF4-FFF2-40B4-BE49-F238E27FC236}">
                <a16:creationId xmlns:a16="http://schemas.microsoft.com/office/drawing/2014/main" id="{3961135A-9F1A-1163-5877-B792D7B88AC7}"/>
              </a:ext>
            </a:extLst>
          </p:cNvPr>
          <p:cNvSpPr>
            <a:spLocks noGrp="1"/>
          </p:cNvSpPr>
          <p:nvPr>
            <p:ph sz="half" idx="2"/>
          </p:nvPr>
        </p:nvSpPr>
        <p:spPr>
          <a:xfrm>
            <a:off x="673754" y="2160589"/>
            <a:ext cx="3973943" cy="4218439"/>
          </a:xfrm>
        </p:spPr>
        <p:txBody>
          <a:bodyPr vert="horz" lIns="91440" tIns="45720" rIns="91440" bIns="45720" rtlCol="0">
            <a:normAutofit/>
          </a:bodyPr>
          <a:lstStyle/>
          <a:p>
            <a:pPr marL="0" indent="0">
              <a:lnSpc>
                <a:spcPct val="90000"/>
              </a:lnSpc>
              <a:buNone/>
            </a:pPr>
            <a:r>
              <a:rPr lang="en-US" b="1" dirty="0">
                <a:solidFill>
                  <a:schemeClr val="bg1"/>
                </a:solidFill>
              </a:rPr>
              <a:t>Dataset Features</a:t>
            </a:r>
          </a:p>
          <a:p>
            <a:pPr>
              <a:lnSpc>
                <a:spcPct val="90000"/>
              </a:lnSpc>
            </a:pPr>
            <a:r>
              <a:rPr lang="en-US" sz="1200" dirty="0" err="1">
                <a:solidFill>
                  <a:schemeClr val="bg1"/>
                </a:solidFill>
              </a:rPr>
              <a:t>Order_ID</a:t>
            </a:r>
            <a:endParaRPr lang="en-US" sz="1200" dirty="0">
              <a:solidFill>
                <a:schemeClr val="bg1"/>
              </a:solidFill>
            </a:endParaRPr>
          </a:p>
          <a:p>
            <a:pPr>
              <a:lnSpc>
                <a:spcPct val="90000"/>
              </a:lnSpc>
            </a:pPr>
            <a:r>
              <a:rPr lang="en-US" sz="1200" dirty="0" err="1">
                <a:solidFill>
                  <a:schemeClr val="bg1"/>
                </a:solidFill>
              </a:rPr>
              <a:t>Order_Date</a:t>
            </a:r>
            <a:endParaRPr lang="en-US" sz="1200" dirty="0">
              <a:solidFill>
                <a:schemeClr val="bg1"/>
              </a:solidFill>
            </a:endParaRPr>
          </a:p>
          <a:p>
            <a:pPr>
              <a:lnSpc>
                <a:spcPct val="90000"/>
              </a:lnSpc>
            </a:pPr>
            <a:r>
              <a:rPr lang="en-US" sz="1200" dirty="0" err="1">
                <a:solidFill>
                  <a:schemeClr val="bg1"/>
                </a:solidFill>
              </a:rPr>
              <a:t>Customer_ID</a:t>
            </a:r>
            <a:endParaRPr lang="en-US" sz="1200" dirty="0">
              <a:solidFill>
                <a:schemeClr val="bg1"/>
              </a:solidFill>
            </a:endParaRPr>
          </a:p>
          <a:p>
            <a:pPr>
              <a:lnSpc>
                <a:spcPct val="90000"/>
              </a:lnSpc>
            </a:pPr>
            <a:r>
              <a:rPr lang="en-US" sz="1200" dirty="0" err="1">
                <a:solidFill>
                  <a:schemeClr val="bg1"/>
                </a:solidFill>
              </a:rPr>
              <a:t>Customer_Name</a:t>
            </a:r>
            <a:endParaRPr lang="en-US" sz="1200" dirty="0">
              <a:solidFill>
                <a:schemeClr val="bg1"/>
              </a:solidFill>
            </a:endParaRPr>
          </a:p>
          <a:p>
            <a:pPr>
              <a:lnSpc>
                <a:spcPct val="90000"/>
              </a:lnSpc>
            </a:pPr>
            <a:r>
              <a:rPr lang="en-US" sz="1200" dirty="0">
                <a:solidFill>
                  <a:schemeClr val="bg1"/>
                </a:solidFill>
              </a:rPr>
              <a:t>Age</a:t>
            </a:r>
          </a:p>
          <a:p>
            <a:pPr>
              <a:lnSpc>
                <a:spcPct val="90000"/>
              </a:lnSpc>
            </a:pPr>
            <a:r>
              <a:rPr lang="en-US" sz="1200" dirty="0">
                <a:solidFill>
                  <a:schemeClr val="bg1"/>
                </a:solidFill>
              </a:rPr>
              <a:t>Gender</a:t>
            </a:r>
          </a:p>
          <a:p>
            <a:pPr>
              <a:lnSpc>
                <a:spcPct val="90000"/>
              </a:lnSpc>
            </a:pPr>
            <a:r>
              <a:rPr lang="en-US" sz="1200" dirty="0">
                <a:solidFill>
                  <a:schemeClr val="bg1"/>
                </a:solidFill>
              </a:rPr>
              <a:t>City</a:t>
            </a:r>
          </a:p>
          <a:p>
            <a:pPr>
              <a:lnSpc>
                <a:spcPct val="90000"/>
              </a:lnSpc>
            </a:pPr>
            <a:r>
              <a:rPr lang="en-US" sz="1200" dirty="0">
                <a:solidFill>
                  <a:schemeClr val="bg1"/>
                </a:solidFill>
              </a:rPr>
              <a:t>Product</a:t>
            </a:r>
          </a:p>
          <a:p>
            <a:pPr>
              <a:lnSpc>
                <a:spcPct val="90000"/>
              </a:lnSpc>
            </a:pPr>
            <a:r>
              <a:rPr lang="en-US" sz="1200" dirty="0">
                <a:solidFill>
                  <a:schemeClr val="bg1"/>
                </a:solidFill>
              </a:rPr>
              <a:t>Category</a:t>
            </a:r>
          </a:p>
          <a:p>
            <a:pPr>
              <a:lnSpc>
                <a:spcPct val="90000"/>
              </a:lnSpc>
            </a:pPr>
            <a:r>
              <a:rPr lang="en-US" sz="1200" dirty="0">
                <a:solidFill>
                  <a:schemeClr val="bg1"/>
                </a:solidFill>
              </a:rPr>
              <a:t>Quantity</a:t>
            </a:r>
          </a:p>
          <a:p>
            <a:pPr>
              <a:lnSpc>
                <a:spcPct val="90000"/>
              </a:lnSpc>
            </a:pPr>
            <a:r>
              <a:rPr lang="en-US" sz="1200" dirty="0" err="1">
                <a:solidFill>
                  <a:schemeClr val="bg1"/>
                </a:solidFill>
              </a:rPr>
              <a:t>Unit_Price</a:t>
            </a:r>
            <a:endParaRPr lang="en-US" sz="1200" dirty="0">
              <a:solidFill>
                <a:schemeClr val="bg1"/>
              </a:solidFill>
            </a:endParaRPr>
          </a:p>
          <a:p>
            <a:pPr>
              <a:lnSpc>
                <a:spcPct val="90000"/>
              </a:lnSpc>
            </a:pPr>
            <a:r>
              <a:rPr lang="en-US" sz="1200" dirty="0" err="1">
                <a:solidFill>
                  <a:schemeClr val="bg1"/>
                </a:solidFill>
              </a:rPr>
              <a:t>Total_Sales</a:t>
            </a:r>
            <a:endParaRPr lang="en-US" sz="1200" dirty="0">
              <a:solidFill>
                <a:schemeClr val="bg1"/>
              </a:solidFill>
            </a:endParaRPr>
          </a:p>
        </p:txBody>
      </p:sp>
      <p:sp>
        <p:nvSpPr>
          <p:cNvPr id="32" name="Isosceles Triangle 31">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graphicFrame>
        <p:nvGraphicFramePr>
          <p:cNvPr id="9" name="Content Placeholder 8">
            <a:extLst>
              <a:ext uri="{FF2B5EF4-FFF2-40B4-BE49-F238E27FC236}">
                <a16:creationId xmlns:a16="http://schemas.microsoft.com/office/drawing/2014/main" id="{F7A945C1-FFE6-4CF7-A78D-45F262E65E57}"/>
              </a:ext>
            </a:extLst>
          </p:cNvPr>
          <p:cNvGraphicFramePr>
            <a:graphicFrameLocks noGrp="1"/>
          </p:cNvGraphicFramePr>
          <p:nvPr>
            <p:ph sz="half" idx="1"/>
            <p:extLst>
              <p:ext uri="{D42A27DB-BD31-4B8C-83A1-F6EECF244321}">
                <p14:modId xmlns:p14="http://schemas.microsoft.com/office/powerpoint/2010/main" val="2907514075"/>
              </p:ext>
            </p:extLst>
          </p:nvPr>
        </p:nvGraphicFramePr>
        <p:xfrm>
          <a:off x="6280611" y="972608"/>
          <a:ext cx="4774281" cy="4900276"/>
        </p:xfrm>
        <a:graphic>
          <a:graphicData uri="http://schemas.openxmlformats.org/drawingml/2006/table">
            <a:tbl>
              <a:tblPr firstRow="1" bandRow="1">
                <a:solidFill>
                  <a:schemeClr val="bg1"/>
                </a:solidFill>
                <a:tableStyleId>{7DF18680-E054-41AD-8BC1-D1AEF772440D}</a:tableStyleId>
              </a:tblPr>
              <a:tblGrid>
                <a:gridCol w="2374685">
                  <a:extLst>
                    <a:ext uri="{9D8B030D-6E8A-4147-A177-3AD203B41FA5}">
                      <a16:colId xmlns:a16="http://schemas.microsoft.com/office/drawing/2014/main" val="3609791976"/>
                    </a:ext>
                  </a:extLst>
                </a:gridCol>
                <a:gridCol w="2399596">
                  <a:extLst>
                    <a:ext uri="{9D8B030D-6E8A-4147-A177-3AD203B41FA5}">
                      <a16:colId xmlns:a16="http://schemas.microsoft.com/office/drawing/2014/main" val="1689819661"/>
                    </a:ext>
                  </a:extLst>
                </a:gridCol>
              </a:tblGrid>
              <a:tr h="491412">
                <a:tc>
                  <a:txBody>
                    <a:bodyPr/>
                    <a:lstStyle/>
                    <a:p>
                      <a:r>
                        <a:rPr lang="en-IN" sz="1600" b="0" cap="none" spc="0">
                          <a:solidFill>
                            <a:schemeClr val="bg1"/>
                          </a:solidFill>
                        </a:rPr>
                        <a:t>Attribute</a:t>
                      </a:r>
                    </a:p>
                  </a:txBody>
                  <a:tcPr marL="134965" marR="103819" marT="103819" marB="103819"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r>
                        <a:rPr lang="en-IN" sz="1600" b="0" cap="none" spc="0">
                          <a:solidFill>
                            <a:schemeClr val="bg1"/>
                          </a:solidFill>
                        </a:rPr>
                        <a:t>Value</a:t>
                      </a:r>
                    </a:p>
                  </a:txBody>
                  <a:tcPr marL="134965" marR="103819" marT="103819" marB="103819"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2480084874"/>
                  </a:ext>
                </a:extLst>
              </a:tr>
              <a:tr h="733657">
                <a:tc>
                  <a:txBody>
                    <a:bodyPr/>
                    <a:lstStyle/>
                    <a:p>
                      <a:r>
                        <a:rPr lang="en-IN" sz="1600" cap="none" spc="0" dirty="0">
                          <a:solidFill>
                            <a:schemeClr val="tx1"/>
                          </a:solidFill>
                        </a:rPr>
                        <a:t>Dataset Name</a:t>
                      </a:r>
                    </a:p>
                  </a:txBody>
                  <a:tcPr marL="134965" marR="103819" marT="103819" marB="103819">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r>
                        <a:rPr lang="en-IN" sz="1600" cap="none" spc="0" err="1">
                          <a:solidFill>
                            <a:schemeClr val="tx1"/>
                          </a:solidFill>
                        </a:rPr>
                        <a:t>ApexPlanet_Data</a:t>
                      </a:r>
                      <a:endParaRPr lang="en-IN" sz="1600" cap="none" spc="0">
                        <a:solidFill>
                          <a:schemeClr val="tx1"/>
                        </a:solidFill>
                      </a:endParaRPr>
                    </a:p>
                    <a:p>
                      <a:r>
                        <a:rPr lang="en-IN" sz="1600" cap="none" spc="0" err="1">
                          <a:solidFill>
                            <a:schemeClr val="tx1"/>
                          </a:solidFill>
                        </a:rPr>
                        <a:t>Analytics_Dataset</a:t>
                      </a:r>
                      <a:endParaRPr lang="en-IN" sz="1600" cap="none" spc="0">
                        <a:solidFill>
                          <a:schemeClr val="tx1"/>
                        </a:solidFill>
                      </a:endParaRPr>
                    </a:p>
                  </a:txBody>
                  <a:tcPr marL="134965" marR="103819" marT="103819" marB="103819">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259468044"/>
                  </a:ext>
                </a:extLst>
              </a:tr>
              <a:tr h="733657">
                <a:tc>
                  <a:txBody>
                    <a:bodyPr/>
                    <a:lstStyle/>
                    <a:p>
                      <a:r>
                        <a:rPr lang="en-IN" sz="1600" cap="none" spc="0">
                          <a:solidFill>
                            <a:schemeClr val="tx1"/>
                          </a:solidFill>
                        </a:rPr>
                        <a:t>Number of Records(Rows)</a:t>
                      </a:r>
                    </a:p>
                  </a:txBody>
                  <a:tcPr marL="134965" marR="103819" marT="103819" marB="10381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IN" sz="1600" cap="none" spc="0">
                          <a:solidFill>
                            <a:schemeClr val="tx1"/>
                          </a:solidFill>
                        </a:rPr>
                        <a:t>1001</a:t>
                      </a:r>
                    </a:p>
                  </a:txBody>
                  <a:tcPr marL="134965" marR="103819" marT="103819" marB="103819">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683131982"/>
                  </a:ext>
                </a:extLst>
              </a:tr>
              <a:tr h="733657">
                <a:tc>
                  <a:txBody>
                    <a:bodyPr/>
                    <a:lstStyle/>
                    <a:p>
                      <a:r>
                        <a:rPr lang="en-IN" sz="1600" cap="none" spc="0">
                          <a:solidFill>
                            <a:schemeClr val="tx1"/>
                          </a:solidFill>
                        </a:rPr>
                        <a:t>Number of Features(Columns)</a:t>
                      </a:r>
                    </a:p>
                  </a:txBody>
                  <a:tcPr marL="134965" marR="103819" marT="103819" marB="103819">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r>
                        <a:rPr lang="en-IN" sz="1600" cap="none" spc="0">
                          <a:solidFill>
                            <a:schemeClr val="tx1"/>
                          </a:solidFill>
                        </a:rPr>
                        <a:t>12</a:t>
                      </a:r>
                    </a:p>
                  </a:txBody>
                  <a:tcPr marL="134965" marR="103819" marT="103819" marB="103819">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96261321"/>
                  </a:ext>
                </a:extLst>
              </a:tr>
              <a:tr h="491412">
                <a:tc>
                  <a:txBody>
                    <a:bodyPr/>
                    <a:lstStyle/>
                    <a:p>
                      <a:r>
                        <a:rPr lang="en-IN" sz="1600" cap="none" spc="0" dirty="0">
                          <a:solidFill>
                            <a:schemeClr val="tx1"/>
                          </a:solidFill>
                        </a:rPr>
                        <a:t>Data Type</a:t>
                      </a:r>
                    </a:p>
                  </a:txBody>
                  <a:tcPr marL="134965" marR="103819" marT="103819" marB="10381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IN" sz="1600" cap="none" spc="0">
                          <a:solidFill>
                            <a:schemeClr val="tx1"/>
                          </a:solidFill>
                        </a:rPr>
                        <a:t>Sales Transaction Data</a:t>
                      </a:r>
                    </a:p>
                  </a:txBody>
                  <a:tcPr marL="134965" marR="103819" marT="103819" marB="103819">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4022141539"/>
                  </a:ext>
                </a:extLst>
              </a:tr>
              <a:tr h="491412">
                <a:tc>
                  <a:txBody>
                    <a:bodyPr/>
                    <a:lstStyle/>
                    <a:p>
                      <a:r>
                        <a:rPr lang="en-IN" sz="1600" cap="none" spc="0">
                          <a:solidFill>
                            <a:schemeClr val="tx1"/>
                          </a:solidFill>
                        </a:rPr>
                        <a:t>Missing Values</a:t>
                      </a:r>
                    </a:p>
                  </a:txBody>
                  <a:tcPr marL="134965" marR="103819" marT="103819" marB="103819">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r>
                        <a:rPr lang="en-IN" sz="1600" cap="none" spc="0" dirty="0">
                          <a:solidFill>
                            <a:schemeClr val="tx1"/>
                          </a:solidFill>
                        </a:rPr>
                        <a:t>No Missing Values </a:t>
                      </a:r>
                    </a:p>
                  </a:txBody>
                  <a:tcPr marL="134965" marR="103819" marT="103819" marB="103819">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271730876"/>
                  </a:ext>
                </a:extLst>
              </a:tr>
              <a:tr h="733657">
                <a:tc>
                  <a:txBody>
                    <a:bodyPr/>
                    <a:lstStyle/>
                    <a:p>
                      <a:r>
                        <a:rPr lang="en-IN" sz="1600" cap="none" spc="0">
                          <a:solidFill>
                            <a:schemeClr val="tx1"/>
                          </a:solidFill>
                        </a:rPr>
                        <a:t>Duplicate Records</a:t>
                      </a:r>
                    </a:p>
                  </a:txBody>
                  <a:tcPr marL="134965" marR="103819" marT="103819" marB="10381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IN" sz="1600" cap="none" spc="0">
                          <a:solidFill>
                            <a:schemeClr val="tx1"/>
                          </a:solidFill>
                        </a:rPr>
                        <a:t>Checked and removed during preprocessing</a:t>
                      </a:r>
                    </a:p>
                  </a:txBody>
                  <a:tcPr marL="134965" marR="103819" marT="103819" marB="103819">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450056115"/>
                  </a:ext>
                </a:extLst>
              </a:tr>
              <a:tr h="491412">
                <a:tc>
                  <a:txBody>
                    <a:bodyPr/>
                    <a:lstStyle/>
                    <a:p>
                      <a:r>
                        <a:rPr lang="en-IN" sz="1600" cap="none" spc="0">
                          <a:solidFill>
                            <a:schemeClr val="tx1"/>
                          </a:solidFill>
                        </a:rPr>
                        <a:t>Target Variable</a:t>
                      </a:r>
                    </a:p>
                  </a:txBody>
                  <a:tcPr marL="134965" marR="103819" marT="103819" marB="103819">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r>
                        <a:rPr lang="en-IN" sz="1600" cap="none" spc="0" dirty="0" err="1">
                          <a:solidFill>
                            <a:schemeClr val="tx1"/>
                          </a:solidFill>
                        </a:rPr>
                        <a:t>Total_Sales</a:t>
                      </a:r>
                      <a:endParaRPr lang="en-IN" sz="1600" cap="none" spc="0" dirty="0">
                        <a:solidFill>
                          <a:schemeClr val="tx1"/>
                        </a:solidFill>
                      </a:endParaRPr>
                    </a:p>
                  </a:txBody>
                  <a:tcPr marL="134965" marR="103819" marT="103819" marB="103819">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1851144031"/>
                  </a:ext>
                </a:extLst>
              </a:tr>
            </a:tbl>
          </a:graphicData>
        </a:graphic>
      </p:graphicFrame>
    </p:spTree>
    <p:extLst>
      <p:ext uri="{BB962C8B-B14F-4D97-AF65-F5344CB8AC3E}">
        <p14:creationId xmlns:p14="http://schemas.microsoft.com/office/powerpoint/2010/main" val="2556926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452885-0649-9C0B-F22B-0714ADBC78F0}"/>
              </a:ext>
            </a:extLst>
          </p:cNvPr>
          <p:cNvSpPr>
            <a:spLocks noGrp="1"/>
          </p:cNvSpPr>
          <p:nvPr>
            <p:ph type="title"/>
          </p:nvPr>
        </p:nvSpPr>
        <p:spPr>
          <a:xfrm>
            <a:off x="677334" y="609600"/>
            <a:ext cx="8596668" cy="849086"/>
          </a:xfrm>
        </p:spPr>
        <p:txBody>
          <a:bodyPr>
            <a:normAutofit fontScale="90000"/>
          </a:bodyPr>
          <a:lstStyle/>
          <a:p>
            <a:r>
              <a:rPr lang="en-IN" dirty="0"/>
              <a:t>Data Cleaning &amp; Preprocessing</a:t>
            </a:r>
            <a:br>
              <a:rPr lang="en-IN" dirty="0"/>
            </a:br>
            <a:br>
              <a:rPr lang="en-IN" dirty="0"/>
            </a:br>
            <a:r>
              <a:rPr lang="en-IN" sz="2200" b="1" dirty="0"/>
              <a:t>Data Cleaning Process</a:t>
            </a:r>
            <a:br>
              <a:rPr lang="en-IN" sz="1000" b="1" dirty="0"/>
            </a:br>
            <a:r>
              <a:rPr lang="en-IN" sz="1200" b="1" dirty="0"/>
              <a:t>✔ Checked missing values                                                         ✔ Standardized column names</a:t>
            </a:r>
            <a:br>
              <a:rPr lang="en-IN" sz="1200" b="1" dirty="0"/>
            </a:br>
            <a:r>
              <a:rPr lang="en-IN" sz="1200" b="1" dirty="0"/>
              <a:t>✔ Removed unnecessary spaces                                                ✔ Verified duplicate records</a:t>
            </a:r>
            <a:br>
              <a:rPr lang="en-IN" sz="1200" b="1" dirty="0"/>
            </a:br>
            <a:r>
              <a:rPr lang="en-IN" sz="1200" b="1" dirty="0"/>
              <a:t>✔ Converted data types                                                             ✔ Prepared data for analysis</a:t>
            </a:r>
            <a:br>
              <a:rPr lang="en-IN" sz="1000" b="1" dirty="0"/>
            </a:br>
            <a:br>
              <a:rPr lang="en-IN" sz="1000" b="1" dirty="0"/>
            </a:br>
            <a:endParaRPr lang="en-IN" sz="1000" dirty="0"/>
          </a:p>
        </p:txBody>
      </p:sp>
      <p:sp>
        <p:nvSpPr>
          <p:cNvPr id="6" name="Text Placeholder 5">
            <a:extLst>
              <a:ext uri="{FF2B5EF4-FFF2-40B4-BE49-F238E27FC236}">
                <a16:creationId xmlns:a16="http://schemas.microsoft.com/office/drawing/2014/main" id="{2157C887-6881-1209-08C8-D05684253D68}"/>
              </a:ext>
            </a:extLst>
          </p:cNvPr>
          <p:cNvSpPr>
            <a:spLocks noGrp="1"/>
          </p:cNvSpPr>
          <p:nvPr>
            <p:ph type="body" idx="1"/>
          </p:nvPr>
        </p:nvSpPr>
        <p:spPr>
          <a:xfrm>
            <a:off x="486734" y="2555992"/>
            <a:ext cx="4185623" cy="576262"/>
          </a:xfrm>
        </p:spPr>
        <p:txBody>
          <a:bodyPr/>
          <a:lstStyle/>
          <a:p>
            <a:r>
              <a:rPr lang="en-IN" b="1" dirty="0"/>
              <a:t>Before Cleaned Data</a:t>
            </a:r>
          </a:p>
        </p:txBody>
      </p:sp>
      <p:pic>
        <p:nvPicPr>
          <p:cNvPr id="13" name="Content Placeholder 12">
            <a:extLst>
              <a:ext uri="{FF2B5EF4-FFF2-40B4-BE49-F238E27FC236}">
                <a16:creationId xmlns:a16="http://schemas.microsoft.com/office/drawing/2014/main" id="{97F83382-F370-DFA4-8728-D13031AAFB85}"/>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5087764" y="3284678"/>
            <a:ext cx="4186237" cy="3211286"/>
          </a:xfrm>
          <a:prstGeom prst="rect">
            <a:avLst/>
          </a:prstGeom>
        </p:spPr>
      </p:pic>
      <p:pic>
        <p:nvPicPr>
          <p:cNvPr id="11" name="Content Placeholder 10">
            <a:extLst>
              <a:ext uri="{FF2B5EF4-FFF2-40B4-BE49-F238E27FC236}">
                <a16:creationId xmlns:a16="http://schemas.microsoft.com/office/drawing/2014/main" id="{3353D643-B7FC-799B-5FD9-DB785DD8E92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86734" y="3284678"/>
            <a:ext cx="4184650" cy="3211286"/>
          </a:xfrm>
          <a:prstGeom prst="rect">
            <a:avLst/>
          </a:prstGeom>
        </p:spPr>
      </p:pic>
      <p:sp>
        <p:nvSpPr>
          <p:cNvPr id="8" name="Text Placeholder 7">
            <a:extLst>
              <a:ext uri="{FF2B5EF4-FFF2-40B4-BE49-F238E27FC236}">
                <a16:creationId xmlns:a16="http://schemas.microsoft.com/office/drawing/2014/main" id="{0055FC88-62BC-DB68-5F43-1ADC434C7F21}"/>
              </a:ext>
            </a:extLst>
          </p:cNvPr>
          <p:cNvSpPr>
            <a:spLocks noGrp="1"/>
          </p:cNvSpPr>
          <p:nvPr>
            <p:ph type="body" sz="quarter" idx="3"/>
          </p:nvPr>
        </p:nvSpPr>
        <p:spPr>
          <a:xfrm>
            <a:off x="5088383" y="2555992"/>
            <a:ext cx="4185618" cy="576262"/>
          </a:xfrm>
        </p:spPr>
        <p:txBody>
          <a:bodyPr/>
          <a:lstStyle/>
          <a:p>
            <a:r>
              <a:rPr lang="en-IN" b="1" dirty="0"/>
              <a:t>After Cleaned Data </a:t>
            </a:r>
          </a:p>
        </p:txBody>
      </p:sp>
    </p:spTree>
    <p:extLst>
      <p:ext uri="{BB962C8B-B14F-4D97-AF65-F5344CB8AC3E}">
        <p14:creationId xmlns:p14="http://schemas.microsoft.com/office/powerpoint/2010/main" val="4074683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8DE259-CFB4-42F7-3516-5AAE635F30B4}"/>
              </a:ext>
            </a:extLst>
          </p:cNvPr>
          <p:cNvSpPr>
            <a:spLocks noGrp="1"/>
          </p:cNvSpPr>
          <p:nvPr>
            <p:ph type="title"/>
          </p:nvPr>
        </p:nvSpPr>
        <p:spPr>
          <a:xfrm>
            <a:off x="490642" y="174172"/>
            <a:ext cx="8596668" cy="739434"/>
          </a:xfrm>
        </p:spPr>
        <p:txBody>
          <a:bodyPr/>
          <a:lstStyle/>
          <a:p>
            <a:r>
              <a:rPr lang="en-IN" dirty="0"/>
              <a:t>Exploratory Data Analysis(EDA)</a:t>
            </a:r>
          </a:p>
        </p:txBody>
      </p:sp>
      <p:pic>
        <p:nvPicPr>
          <p:cNvPr id="11" name="Content Placeholder 10">
            <a:extLst>
              <a:ext uri="{FF2B5EF4-FFF2-40B4-BE49-F238E27FC236}">
                <a16:creationId xmlns:a16="http://schemas.microsoft.com/office/drawing/2014/main" id="{35EA3989-6630-46CC-F778-3FB3F8ED5EBB}"/>
              </a:ext>
            </a:extLst>
          </p:cNvPr>
          <p:cNvPicPr>
            <a:picLocks noGrp="1" noChangeAspect="1"/>
          </p:cNvPicPr>
          <p:nvPr>
            <p:ph idx="1"/>
          </p:nvPr>
        </p:nvPicPr>
        <p:blipFill>
          <a:blip r:embed="rId2"/>
          <a:stretch>
            <a:fillRect/>
          </a:stretch>
        </p:blipFill>
        <p:spPr>
          <a:xfrm>
            <a:off x="490642" y="1755537"/>
            <a:ext cx="4355690" cy="2367869"/>
          </a:xfrm>
          <a:prstGeom prst="rect">
            <a:avLst/>
          </a:prstGeom>
        </p:spPr>
      </p:pic>
      <p:sp>
        <p:nvSpPr>
          <p:cNvPr id="13" name="TextBox 12">
            <a:extLst>
              <a:ext uri="{FF2B5EF4-FFF2-40B4-BE49-F238E27FC236}">
                <a16:creationId xmlns:a16="http://schemas.microsoft.com/office/drawing/2014/main" id="{4842386D-5BDC-AE87-EEB7-9DA9F10C3BBC}"/>
              </a:ext>
            </a:extLst>
          </p:cNvPr>
          <p:cNvSpPr txBox="1"/>
          <p:nvPr/>
        </p:nvSpPr>
        <p:spPr>
          <a:xfrm>
            <a:off x="643123" y="928890"/>
            <a:ext cx="4263660" cy="954107"/>
          </a:xfrm>
          <a:prstGeom prst="rect">
            <a:avLst/>
          </a:prstGeom>
          <a:noFill/>
        </p:spPr>
        <p:txBody>
          <a:bodyPr wrap="square">
            <a:spAutoFit/>
          </a:bodyPr>
          <a:lstStyle/>
          <a:p>
            <a:r>
              <a:rPr lang="en-IN" sz="2000" b="1" dirty="0"/>
              <a:t>Sales Distribution(Histogram)            </a:t>
            </a:r>
          </a:p>
          <a:p>
            <a:r>
              <a:rPr lang="en-IN" sz="1200" b="1" dirty="0"/>
              <a:t>Most transactions have lower sales values, while a few high-value transactions contribute significantly to total sales.</a:t>
            </a:r>
          </a:p>
        </p:txBody>
      </p:sp>
      <p:sp>
        <p:nvSpPr>
          <p:cNvPr id="15" name="TextBox 14">
            <a:extLst>
              <a:ext uri="{FF2B5EF4-FFF2-40B4-BE49-F238E27FC236}">
                <a16:creationId xmlns:a16="http://schemas.microsoft.com/office/drawing/2014/main" id="{3E734EA4-D81B-EDC3-8BD6-4FBF60627469}"/>
              </a:ext>
            </a:extLst>
          </p:cNvPr>
          <p:cNvSpPr txBox="1"/>
          <p:nvPr/>
        </p:nvSpPr>
        <p:spPr>
          <a:xfrm>
            <a:off x="6096000" y="811715"/>
            <a:ext cx="3792793" cy="707886"/>
          </a:xfrm>
          <a:prstGeom prst="rect">
            <a:avLst/>
          </a:prstGeom>
          <a:noFill/>
        </p:spPr>
        <p:txBody>
          <a:bodyPr wrap="square">
            <a:spAutoFit/>
          </a:bodyPr>
          <a:lstStyle/>
          <a:p>
            <a:r>
              <a:rPr lang="en-IN" b="1" dirty="0"/>
              <a:t>Category-wise Sales(Bar Chart)</a:t>
            </a:r>
          </a:p>
          <a:p>
            <a:r>
              <a:rPr lang="en-IN" sz="1100" b="1" dirty="0"/>
              <a:t>Some product categories generate higher sales than others.</a:t>
            </a:r>
          </a:p>
        </p:txBody>
      </p:sp>
      <p:pic>
        <p:nvPicPr>
          <p:cNvPr id="16" name="Picture 15">
            <a:extLst>
              <a:ext uri="{FF2B5EF4-FFF2-40B4-BE49-F238E27FC236}">
                <a16:creationId xmlns:a16="http://schemas.microsoft.com/office/drawing/2014/main" id="{5A80DC3D-B3A3-15AD-FCEF-DBFAC9E0FFC2}"/>
              </a:ext>
            </a:extLst>
          </p:cNvPr>
          <p:cNvPicPr>
            <a:picLocks noChangeAspect="1"/>
          </p:cNvPicPr>
          <p:nvPr/>
        </p:nvPicPr>
        <p:blipFill>
          <a:blip r:embed="rId3"/>
          <a:stretch>
            <a:fillRect/>
          </a:stretch>
        </p:blipFill>
        <p:spPr>
          <a:xfrm>
            <a:off x="6095999" y="1604178"/>
            <a:ext cx="3792793" cy="2151746"/>
          </a:xfrm>
          <a:prstGeom prst="rect">
            <a:avLst/>
          </a:prstGeom>
        </p:spPr>
      </p:pic>
      <p:sp>
        <p:nvSpPr>
          <p:cNvPr id="18" name="TextBox 17">
            <a:extLst>
              <a:ext uri="{FF2B5EF4-FFF2-40B4-BE49-F238E27FC236}">
                <a16:creationId xmlns:a16="http://schemas.microsoft.com/office/drawing/2014/main" id="{86660F3D-2CB7-A29F-7A93-3912E4BEF0EA}"/>
              </a:ext>
            </a:extLst>
          </p:cNvPr>
          <p:cNvSpPr txBox="1"/>
          <p:nvPr/>
        </p:nvSpPr>
        <p:spPr>
          <a:xfrm>
            <a:off x="298508" y="3846407"/>
            <a:ext cx="4562168" cy="553998"/>
          </a:xfrm>
          <a:prstGeom prst="rect">
            <a:avLst/>
          </a:prstGeom>
          <a:noFill/>
        </p:spPr>
        <p:txBody>
          <a:bodyPr wrap="square">
            <a:spAutoFit/>
          </a:bodyPr>
          <a:lstStyle/>
          <a:p>
            <a:r>
              <a:rPr lang="en-IN" b="1" dirty="0"/>
              <a:t>Top Products</a:t>
            </a:r>
          </a:p>
          <a:p>
            <a:r>
              <a:rPr lang="en-IN" sz="1200" b="1" dirty="0"/>
              <a:t>A small number of products contribute the highest revenue.</a:t>
            </a:r>
          </a:p>
        </p:txBody>
      </p:sp>
      <p:pic>
        <p:nvPicPr>
          <p:cNvPr id="19" name="Picture 18">
            <a:extLst>
              <a:ext uri="{FF2B5EF4-FFF2-40B4-BE49-F238E27FC236}">
                <a16:creationId xmlns:a16="http://schemas.microsoft.com/office/drawing/2014/main" id="{1C35D30A-DE51-B5BC-37A0-1AFBC8BA7A4E}"/>
              </a:ext>
            </a:extLst>
          </p:cNvPr>
          <p:cNvPicPr>
            <a:picLocks noChangeAspect="1"/>
          </p:cNvPicPr>
          <p:nvPr/>
        </p:nvPicPr>
        <p:blipFill>
          <a:blip r:embed="rId4"/>
          <a:stretch>
            <a:fillRect/>
          </a:stretch>
        </p:blipFill>
        <p:spPr>
          <a:xfrm>
            <a:off x="132332" y="4400405"/>
            <a:ext cx="5285242" cy="2231774"/>
          </a:xfrm>
          <a:prstGeom prst="rect">
            <a:avLst/>
          </a:prstGeom>
        </p:spPr>
      </p:pic>
      <p:sp>
        <p:nvSpPr>
          <p:cNvPr id="21" name="TextBox 20">
            <a:extLst>
              <a:ext uri="{FF2B5EF4-FFF2-40B4-BE49-F238E27FC236}">
                <a16:creationId xmlns:a16="http://schemas.microsoft.com/office/drawing/2014/main" id="{AF2950FF-483B-CA14-CA64-E02781030B81}"/>
              </a:ext>
            </a:extLst>
          </p:cNvPr>
          <p:cNvSpPr txBox="1"/>
          <p:nvPr/>
        </p:nvSpPr>
        <p:spPr>
          <a:xfrm>
            <a:off x="6095999" y="3663371"/>
            <a:ext cx="4562168" cy="830997"/>
          </a:xfrm>
          <a:prstGeom prst="rect">
            <a:avLst/>
          </a:prstGeom>
          <a:noFill/>
        </p:spPr>
        <p:txBody>
          <a:bodyPr wrap="square">
            <a:spAutoFit/>
          </a:bodyPr>
          <a:lstStyle/>
          <a:p>
            <a:r>
              <a:rPr lang="en-IN" b="1" dirty="0"/>
              <a:t>Correlations</a:t>
            </a:r>
            <a:r>
              <a:rPr lang="en-IN" dirty="0"/>
              <a:t> </a:t>
            </a:r>
            <a:r>
              <a:rPr lang="en-IN" b="1" dirty="0"/>
              <a:t>Heatmap</a:t>
            </a:r>
          </a:p>
          <a:p>
            <a:r>
              <a:rPr lang="en-IN" sz="1200" b="1" dirty="0"/>
              <a:t>Positive correlations exist between some numerical variables, helping identify key business relationships</a:t>
            </a:r>
            <a:r>
              <a:rPr lang="en-IN" dirty="0"/>
              <a:t>.</a:t>
            </a:r>
          </a:p>
        </p:txBody>
      </p:sp>
      <p:pic>
        <p:nvPicPr>
          <p:cNvPr id="22" name="Picture 21">
            <a:extLst>
              <a:ext uri="{FF2B5EF4-FFF2-40B4-BE49-F238E27FC236}">
                <a16:creationId xmlns:a16="http://schemas.microsoft.com/office/drawing/2014/main" id="{19222943-0A12-9308-9E29-4F2F08FC2BA4}"/>
              </a:ext>
            </a:extLst>
          </p:cNvPr>
          <p:cNvPicPr>
            <a:picLocks noChangeAspect="1"/>
          </p:cNvPicPr>
          <p:nvPr/>
        </p:nvPicPr>
        <p:blipFill>
          <a:blip r:embed="rId5"/>
          <a:stretch>
            <a:fillRect/>
          </a:stretch>
        </p:blipFill>
        <p:spPr>
          <a:xfrm>
            <a:off x="6095999" y="4662617"/>
            <a:ext cx="4443993" cy="1863420"/>
          </a:xfrm>
          <a:prstGeom prst="rect">
            <a:avLst/>
          </a:prstGeom>
        </p:spPr>
      </p:pic>
    </p:spTree>
    <p:extLst>
      <p:ext uri="{BB962C8B-B14F-4D97-AF65-F5344CB8AC3E}">
        <p14:creationId xmlns:p14="http://schemas.microsoft.com/office/powerpoint/2010/main" val="10165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65E2D-A276-8715-80AF-A27DEE9AFF35}"/>
              </a:ext>
            </a:extLst>
          </p:cNvPr>
          <p:cNvSpPr>
            <a:spLocks noGrp="1"/>
          </p:cNvSpPr>
          <p:nvPr>
            <p:ph type="title"/>
          </p:nvPr>
        </p:nvSpPr>
        <p:spPr>
          <a:xfrm>
            <a:off x="5536734" y="609600"/>
            <a:ext cx="3737268" cy="1320800"/>
          </a:xfrm>
        </p:spPr>
        <p:txBody>
          <a:bodyPr>
            <a:normAutofit/>
          </a:bodyPr>
          <a:lstStyle/>
          <a:p>
            <a:pPr>
              <a:lnSpc>
                <a:spcPct val="90000"/>
              </a:lnSpc>
            </a:pPr>
            <a:r>
              <a:rPr lang="en-IN" sz="900" b="1"/>
              <a:t>                        SQL Analysis</a:t>
            </a:r>
            <a:br>
              <a:rPr lang="en-IN" sz="900"/>
            </a:br>
            <a:r>
              <a:rPr lang="en-IN" sz="900" b="1"/>
              <a:t>Objective:</a:t>
            </a:r>
            <a:r>
              <a:rPr lang="en-US" sz="900" b="1"/>
              <a:t> SQL was used to query the sales database and answer key business questions efficiently. The analysis helped identify sales performance, product trends, and customer purchasing patterns</a:t>
            </a:r>
            <a:br>
              <a:rPr lang="en-IN" sz="900" b="1"/>
            </a:br>
            <a:br>
              <a:rPr lang="en-IN" sz="900"/>
            </a:br>
            <a:endParaRPr lang="en-IN" sz="900"/>
          </a:p>
        </p:txBody>
      </p:sp>
      <p:sp>
        <p:nvSpPr>
          <p:cNvPr id="3" name="Content Placeholder 2">
            <a:extLst>
              <a:ext uri="{FF2B5EF4-FFF2-40B4-BE49-F238E27FC236}">
                <a16:creationId xmlns:a16="http://schemas.microsoft.com/office/drawing/2014/main" id="{361A793F-D6BA-708E-5832-616034F0CDA4}"/>
              </a:ext>
            </a:extLst>
          </p:cNvPr>
          <p:cNvSpPr>
            <a:spLocks noGrp="1"/>
          </p:cNvSpPr>
          <p:nvPr>
            <p:ph idx="1"/>
          </p:nvPr>
        </p:nvSpPr>
        <p:spPr>
          <a:xfrm>
            <a:off x="5209563" y="2160589"/>
            <a:ext cx="4064439" cy="3880773"/>
          </a:xfrm>
        </p:spPr>
        <p:txBody>
          <a:bodyPr>
            <a:normAutofit/>
          </a:bodyPr>
          <a:lstStyle/>
          <a:p>
            <a:pPr marL="0" indent="0">
              <a:lnSpc>
                <a:spcPct val="90000"/>
              </a:lnSpc>
              <a:buNone/>
            </a:pPr>
            <a:r>
              <a:rPr lang="en-US" sz="1300" b="1" dirty="0"/>
              <a:t>Business Questions Answered Using SQL</a:t>
            </a:r>
            <a:endParaRPr lang="en-IN" sz="1300" b="1" dirty="0"/>
          </a:p>
          <a:p>
            <a:pPr>
              <a:lnSpc>
                <a:spcPct val="90000"/>
              </a:lnSpc>
              <a:buFont typeface="Wingdings" panose="05000000000000000000" pitchFamily="2" charset="2"/>
              <a:buChar char="v"/>
            </a:pPr>
            <a:r>
              <a:rPr lang="en-US" sz="1300" b="1" dirty="0"/>
              <a:t>✔ What is the total sales generated by the business?</a:t>
            </a:r>
          </a:p>
          <a:p>
            <a:pPr>
              <a:lnSpc>
                <a:spcPct val="90000"/>
              </a:lnSpc>
              <a:buFont typeface="Wingdings" panose="05000000000000000000" pitchFamily="2" charset="2"/>
              <a:buChar char="v"/>
            </a:pPr>
            <a:r>
              <a:rPr lang="en-US" sz="1300" b="1" dirty="0"/>
              <a:t>✔ What is the average sales per transaction?</a:t>
            </a:r>
          </a:p>
          <a:p>
            <a:pPr>
              <a:lnSpc>
                <a:spcPct val="90000"/>
              </a:lnSpc>
              <a:buFont typeface="Wingdings" panose="05000000000000000000" pitchFamily="2" charset="2"/>
              <a:buChar char="v"/>
            </a:pPr>
            <a:r>
              <a:rPr lang="en-US" sz="1300" b="1" dirty="0"/>
              <a:t>✔ Which products generate the highest sales?</a:t>
            </a:r>
          </a:p>
          <a:p>
            <a:pPr>
              <a:lnSpc>
                <a:spcPct val="90000"/>
              </a:lnSpc>
              <a:buFont typeface="Wingdings" panose="05000000000000000000" pitchFamily="2" charset="2"/>
              <a:buChar char="v"/>
            </a:pPr>
            <a:r>
              <a:rPr lang="en-US" sz="1300" b="1" dirty="0"/>
              <a:t>✔ Which product category contributes the highest revenue?</a:t>
            </a:r>
          </a:p>
          <a:p>
            <a:pPr marL="0" indent="0">
              <a:lnSpc>
                <a:spcPct val="90000"/>
              </a:lnSpc>
              <a:buNone/>
            </a:pPr>
            <a:r>
              <a:rPr lang="en-US" sz="1300" b="1" dirty="0"/>
              <a:t>SQL Queries Used</a:t>
            </a:r>
          </a:p>
          <a:p>
            <a:pPr marL="0" indent="0">
              <a:lnSpc>
                <a:spcPct val="90000"/>
              </a:lnSpc>
              <a:buNone/>
            </a:pPr>
            <a:r>
              <a:rPr lang="en-US" sz="1300" b="1" dirty="0"/>
              <a:t>1.Total Sales</a:t>
            </a:r>
          </a:p>
          <a:p>
            <a:pPr marL="0" indent="0">
              <a:lnSpc>
                <a:spcPct val="90000"/>
              </a:lnSpc>
              <a:buNone/>
            </a:pPr>
            <a:r>
              <a:rPr lang="en-US" sz="1300" b="1" dirty="0"/>
              <a:t>Query: SELECT SUM(</a:t>
            </a:r>
            <a:r>
              <a:rPr lang="en-US" sz="1300" b="1" dirty="0" err="1"/>
              <a:t>Total_Sales</a:t>
            </a:r>
            <a:r>
              <a:rPr lang="en-US" sz="1300" b="1" dirty="0"/>
              <a:t>) AS </a:t>
            </a:r>
            <a:r>
              <a:rPr lang="en-US" sz="1300" b="1" dirty="0" err="1"/>
              <a:t>Total_Sales</a:t>
            </a:r>
            <a:r>
              <a:rPr lang="en-US" sz="1300" b="1" dirty="0"/>
              <a:t> FROM Sales;</a:t>
            </a:r>
          </a:p>
          <a:p>
            <a:pPr marL="0" indent="0">
              <a:lnSpc>
                <a:spcPct val="90000"/>
              </a:lnSpc>
              <a:buNone/>
            </a:pPr>
            <a:r>
              <a:rPr lang="en-US" sz="1300" b="1" dirty="0"/>
              <a:t>2. Average Sales</a:t>
            </a:r>
          </a:p>
          <a:p>
            <a:pPr marL="0" indent="0">
              <a:lnSpc>
                <a:spcPct val="90000"/>
              </a:lnSpc>
              <a:buNone/>
            </a:pPr>
            <a:r>
              <a:rPr lang="en-US" sz="1300" b="1" dirty="0"/>
              <a:t>Query: SELECT AVG(</a:t>
            </a:r>
            <a:r>
              <a:rPr lang="en-US" sz="1300" b="1" dirty="0" err="1"/>
              <a:t>Total_Sales</a:t>
            </a:r>
            <a:r>
              <a:rPr lang="en-US" sz="1300" b="1" dirty="0"/>
              <a:t>) AS Average_Sales FROM Sales;</a:t>
            </a:r>
          </a:p>
        </p:txBody>
      </p:sp>
      <p:pic>
        <p:nvPicPr>
          <p:cNvPr id="5" name="Picture 4" descr="Magnifying glass showing decling performance">
            <a:extLst>
              <a:ext uri="{FF2B5EF4-FFF2-40B4-BE49-F238E27FC236}">
                <a16:creationId xmlns:a16="http://schemas.microsoft.com/office/drawing/2014/main" id="{4A9A9B3C-7C57-0322-AFEC-C9375C8C29BD}"/>
              </a:ext>
            </a:extLst>
          </p:cNvPr>
          <p:cNvPicPr>
            <a:picLocks noChangeAspect="1"/>
          </p:cNvPicPr>
          <p:nvPr/>
        </p:nvPicPr>
        <p:blipFill>
          <a:blip r:embed="rId2"/>
          <a:srcRect l="8463" r="39026" b="-2"/>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753922493"/>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Isosceles Triangle 15">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EA082A1D-7E1F-017A-7BC2-921346F75FA2}"/>
              </a:ext>
            </a:extLst>
          </p:cNvPr>
          <p:cNvSpPr>
            <a:spLocks noGrp="1"/>
          </p:cNvSpPr>
          <p:nvPr>
            <p:ph type="title"/>
          </p:nvPr>
        </p:nvSpPr>
        <p:spPr>
          <a:xfrm>
            <a:off x="955634" y="135983"/>
            <a:ext cx="4299666" cy="6577565"/>
          </a:xfrm>
        </p:spPr>
        <p:txBody>
          <a:bodyPr vert="horz" lIns="91440" tIns="45720" rIns="91440" bIns="45720" rtlCol="0" anchor="b">
            <a:noAutofit/>
          </a:bodyPr>
          <a:lstStyle/>
          <a:p>
            <a:pPr>
              <a:lnSpc>
                <a:spcPct val="90000"/>
              </a:lnSpc>
            </a:pPr>
            <a:r>
              <a:rPr lang="en-US" sz="1800" b="1" kern="1200" dirty="0">
                <a:solidFill>
                  <a:schemeClr val="accent1"/>
                </a:solidFill>
                <a:latin typeface="+mj-lt"/>
                <a:ea typeface="+mj-ea"/>
                <a:cs typeface="+mj-cs"/>
              </a:rPr>
              <a:t>SQL Queries Used</a:t>
            </a:r>
            <a:br>
              <a:rPr lang="en-US" sz="1800" b="1" kern="1200" dirty="0">
                <a:solidFill>
                  <a:schemeClr val="accent1"/>
                </a:solidFill>
                <a:latin typeface="+mj-lt"/>
                <a:ea typeface="+mj-ea"/>
                <a:cs typeface="+mj-cs"/>
              </a:rPr>
            </a:br>
            <a:br>
              <a:rPr lang="en-US" sz="1800" b="1" kern="1200" dirty="0">
                <a:solidFill>
                  <a:schemeClr val="accent1"/>
                </a:solidFill>
                <a:latin typeface="+mj-lt"/>
                <a:ea typeface="+mj-ea"/>
                <a:cs typeface="+mj-cs"/>
              </a:rPr>
            </a:br>
            <a:r>
              <a:rPr lang="en-US" sz="1800" kern="1200" dirty="0">
                <a:solidFill>
                  <a:schemeClr val="accent1"/>
                </a:solidFill>
                <a:latin typeface="+mj-lt"/>
                <a:ea typeface="+mj-ea"/>
                <a:cs typeface="+mj-cs"/>
              </a:rPr>
              <a:t>3.</a:t>
            </a:r>
            <a:r>
              <a:rPr lang="en-US" sz="1800" b="1" kern="1200" dirty="0">
                <a:solidFill>
                  <a:schemeClr val="accent1"/>
                </a:solidFill>
                <a:latin typeface="+mj-lt"/>
                <a:ea typeface="+mj-ea"/>
                <a:cs typeface="+mj-cs"/>
              </a:rPr>
              <a:t>Top Selling Products </a:t>
            </a: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Query: SELECT Product, SUM(Total_Sales) AS Total_Sales FROM Sales GROUP BY Product</a:t>
            </a: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                 ORDER BY Total_Sales DESC;</a:t>
            </a:r>
            <a:br>
              <a:rPr lang="en-US" sz="1800" b="1" kern="1200" dirty="0">
                <a:solidFill>
                  <a:schemeClr val="accent1"/>
                </a:solidFill>
                <a:latin typeface="+mj-lt"/>
                <a:ea typeface="+mj-ea"/>
                <a:cs typeface="+mj-cs"/>
              </a:rPr>
            </a:b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4.Category-wise Sales</a:t>
            </a: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Query: SELECT Category, SUM(Total_Sales) AS Total_Sales FROM Sales GROUP BY Category</a:t>
            </a: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                ORDER BY Total_Sales DESC;</a:t>
            </a:r>
            <a:br>
              <a:rPr lang="en-US" sz="1800" b="1" kern="1200" dirty="0">
                <a:solidFill>
                  <a:schemeClr val="accent1"/>
                </a:solidFill>
                <a:latin typeface="+mj-lt"/>
                <a:ea typeface="+mj-ea"/>
                <a:cs typeface="+mj-cs"/>
              </a:rPr>
            </a:b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Key Insights</a:t>
            </a: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 SQL enabled quick business analysis.</a:t>
            </a: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 Identified top-performing products.</a:t>
            </a: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 Summarized sales information efficiently.</a:t>
            </a:r>
            <a:br>
              <a:rPr lang="en-US" sz="1800" b="1" kern="1200" dirty="0">
                <a:solidFill>
                  <a:schemeClr val="accent1"/>
                </a:solidFill>
                <a:latin typeface="+mj-lt"/>
                <a:ea typeface="+mj-ea"/>
                <a:cs typeface="+mj-cs"/>
              </a:rPr>
            </a:br>
            <a:br>
              <a:rPr lang="en-US" sz="1800" b="1" kern="1200" dirty="0">
                <a:solidFill>
                  <a:schemeClr val="accent1"/>
                </a:solidFill>
                <a:latin typeface="+mj-lt"/>
                <a:ea typeface="+mj-ea"/>
                <a:cs typeface="+mj-cs"/>
              </a:rPr>
            </a:br>
            <a:endParaRPr lang="en-US" sz="1800" b="1" kern="1200" dirty="0">
              <a:solidFill>
                <a:schemeClr val="accent1"/>
              </a:solidFill>
              <a:latin typeface="+mj-lt"/>
              <a:ea typeface="+mj-ea"/>
              <a:cs typeface="+mj-cs"/>
            </a:endParaRPr>
          </a:p>
        </p:txBody>
      </p:sp>
      <p:sp>
        <p:nvSpPr>
          <p:cNvPr id="23" name="Isosceles Triangle 22">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a:extLst>
              <a:ext uri="{FF2B5EF4-FFF2-40B4-BE49-F238E27FC236}">
                <a16:creationId xmlns:a16="http://schemas.microsoft.com/office/drawing/2014/main" id="{41BD7866-223E-37A9-06D6-17BE6A238E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2934" y="2833077"/>
            <a:ext cx="5810019" cy="3268133"/>
          </a:xfrm>
          <a:prstGeom prst="rect">
            <a:avLst/>
          </a:prstGeom>
        </p:spPr>
      </p:pic>
      <p:sp>
        <p:nvSpPr>
          <p:cNvPr id="39" name="TextBox 38">
            <a:extLst>
              <a:ext uri="{FF2B5EF4-FFF2-40B4-BE49-F238E27FC236}">
                <a16:creationId xmlns:a16="http://schemas.microsoft.com/office/drawing/2014/main" id="{46A31E60-D770-4916-25DA-8B50530EEB4F}"/>
              </a:ext>
            </a:extLst>
          </p:cNvPr>
          <p:cNvSpPr txBox="1"/>
          <p:nvPr/>
        </p:nvSpPr>
        <p:spPr>
          <a:xfrm>
            <a:off x="5563818" y="1419648"/>
            <a:ext cx="6108700" cy="1477328"/>
          </a:xfrm>
          <a:prstGeom prst="rect">
            <a:avLst/>
          </a:prstGeom>
          <a:noFill/>
        </p:spPr>
        <p:txBody>
          <a:bodyPr wrap="square">
            <a:spAutoFit/>
          </a:bodyPr>
          <a:lstStyle/>
          <a:p>
            <a:r>
              <a:rPr lang="en-US" sz="1800" b="1" kern="1200" dirty="0">
                <a:latin typeface="+mj-lt"/>
                <a:ea typeface="+mj-ea"/>
                <a:cs typeface="+mj-cs"/>
              </a:rPr>
              <a:t>1.Total Sales</a:t>
            </a:r>
            <a:br>
              <a:rPr lang="en-US" sz="1800" b="1" kern="1200" dirty="0">
                <a:latin typeface="+mj-lt"/>
                <a:ea typeface="+mj-ea"/>
                <a:cs typeface="+mj-cs"/>
              </a:rPr>
            </a:br>
            <a:r>
              <a:rPr lang="en-US" sz="1800" b="1" kern="1200" dirty="0">
                <a:latin typeface="+mj-lt"/>
                <a:ea typeface="+mj-ea"/>
                <a:cs typeface="+mj-cs"/>
              </a:rPr>
              <a:t>Query: SELECT SUM(</a:t>
            </a:r>
            <a:r>
              <a:rPr lang="en-US" sz="1800" b="1" kern="1200" dirty="0" err="1">
                <a:latin typeface="+mj-lt"/>
                <a:ea typeface="+mj-ea"/>
                <a:cs typeface="+mj-cs"/>
              </a:rPr>
              <a:t>Total_Sales</a:t>
            </a:r>
            <a:r>
              <a:rPr lang="en-US" sz="1800" b="1" kern="1200" dirty="0">
                <a:latin typeface="+mj-lt"/>
                <a:ea typeface="+mj-ea"/>
                <a:cs typeface="+mj-cs"/>
              </a:rPr>
              <a:t>) AS </a:t>
            </a:r>
            <a:r>
              <a:rPr lang="en-US" sz="1800" b="1" kern="1200" dirty="0" err="1">
                <a:latin typeface="+mj-lt"/>
                <a:ea typeface="+mj-ea"/>
                <a:cs typeface="+mj-cs"/>
              </a:rPr>
              <a:t>Total_Sales</a:t>
            </a:r>
            <a:r>
              <a:rPr lang="en-US" sz="1800" b="1" kern="1200" dirty="0">
                <a:latin typeface="+mj-lt"/>
                <a:ea typeface="+mj-ea"/>
                <a:cs typeface="+mj-cs"/>
              </a:rPr>
              <a:t> FROM Sales;</a:t>
            </a:r>
            <a:br>
              <a:rPr lang="en-US" sz="1800" b="1" kern="1200" dirty="0">
                <a:latin typeface="+mj-lt"/>
                <a:ea typeface="+mj-ea"/>
                <a:cs typeface="+mj-cs"/>
              </a:rPr>
            </a:br>
            <a:br>
              <a:rPr lang="en-US" sz="1800" b="1" kern="1200" dirty="0">
                <a:latin typeface="+mj-lt"/>
                <a:ea typeface="+mj-ea"/>
                <a:cs typeface="+mj-cs"/>
              </a:rPr>
            </a:br>
            <a:endParaRPr lang="en-IN" dirty="0"/>
          </a:p>
        </p:txBody>
      </p:sp>
    </p:spTree>
    <p:extLst>
      <p:ext uri="{BB962C8B-B14F-4D97-AF65-F5344CB8AC3E}">
        <p14:creationId xmlns:p14="http://schemas.microsoft.com/office/powerpoint/2010/main" val="452532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5A4F8277-87EA-FEF2-D421-6B7EAB0D22E1}"/>
              </a:ext>
            </a:extLst>
          </p:cNvPr>
          <p:cNvSpPr>
            <a:spLocks noGrp="1"/>
          </p:cNvSpPr>
          <p:nvPr>
            <p:ph type="title"/>
          </p:nvPr>
        </p:nvSpPr>
        <p:spPr>
          <a:xfrm>
            <a:off x="879109" y="609015"/>
            <a:ext cx="3740289" cy="1087656"/>
          </a:xfrm>
        </p:spPr>
        <p:txBody>
          <a:bodyPr vert="horz" lIns="91440" tIns="45720" rIns="91440" bIns="45720" rtlCol="0" anchor="b">
            <a:normAutofit/>
          </a:bodyPr>
          <a:lstStyle/>
          <a:p>
            <a:pPr marL="0" indent="0">
              <a:lnSpc>
                <a:spcPct val="90000"/>
              </a:lnSpc>
            </a:pPr>
            <a:r>
              <a:rPr lang="en-US" sz="1900" b="1" kern="1200" dirty="0">
                <a:solidFill>
                  <a:schemeClr val="tx1"/>
                </a:solidFill>
                <a:latin typeface="+mj-lt"/>
                <a:ea typeface="+mj-ea"/>
                <a:cs typeface="+mj-cs"/>
              </a:rPr>
              <a:t>2. Average Sales</a:t>
            </a:r>
            <a:br>
              <a:rPr lang="en-US" sz="1900" b="1" kern="1200" dirty="0">
                <a:solidFill>
                  <a:schemeClr val="tx1"/>
                </a:solidFill>
                <a:latin typeface="+mj-lt"/>
                <a:ea typeface="+mj-ea"/>
                <a:cs typeface="+mj-cs"/>
              </a:rPr>
            </a:br>
            <a:r>
              <a:rPr lang="en-US" sz="1900" b="1" kern="1200" dirty="0">
                <a:solidFill>
                  <a:schemeClr val="tx1"/>
                </a:solidFill>
                <a:latin typeface="+mj-lt"/>
                <a:ea typeface="+mj-ea"/>
                <a:cs typeface="+mj-cs"/>
              </a:rPr>
              <a:t>Query: </a:t>
            </a:r>
            <a:r>
              <a:rPr lang="en-US" sz="1300" b="1" kern="1200" dirty="0">
                <a:solidFill>
                  <a:schemeClr val="tx1"/>
                </a:solidFill>
                <a:latin typeface="+mj-lt"/>
                <a:ea typeface="+mj-ea"/>
                <a:cs typeface="+mj-cs"/>
              </a:rPr>
              <a:t>SELECT AVG(</a:t>
            </a:r>
            <a:r>
              <a:rPr lang="en-US" sz="1300" b="1" kern="1200" dirty="0" err="1">
                <a:solidFill>
                  <a:schemeClr val="tx1"/>
                </a:solidFill>
                <a:latin typeface="+mj-lt"/>
                <a:ea typeface="+mj-ea"/>
                <a:cs typeface="+mj-cs"/>
              </a:rPr>
              <a:t>Total_Sales</a:t>
            </a:r>
            <a:r>
              <a:rPr lang="en-US" sz="1300" b="1" kern="1200" dirty="0">
                <a:solidFill>
                  <a:schemeClr val="tx1"/>
                </a:solidFill>
                <a:latin typeface="+mj-lt"/>
                <a:ea typeface="+mj-ea"/>
                <a:cs typeface="+mj-cs"/>
              </a:rPr>
              <a:t>) AS Average_Sales FROM Sales;</a:t>
            </a:r>
            <a:br>
              <a:rPr lang="en-US" sz="1300" b="1" kern="1200" dirty="0">
                <a:solidFill>
                  <a:schemeClr val="tx1"/>
                </a:solidFill>
                <a:latin typeface="+mj-lt"/>
                <a:ea typeface="+mj-ea"/>
                <a:cs typeface="+mj-cs"/>
              </a:rPr>
            </a:br>
            <a:endParaRPr lang="en-US" sz="1300" kern="1200" dirty="0">
              <a:solidFill>
                <a:schemeClr val="tx1"/>
              </a:solidFill>
              <a:latin typeface="+mj-lt"/>
              <a:ea typeface="+mj-ea"/>
              <a:cs typeface="+mj-cs"/>
            </a:endParaRPr>
          </a:p>
        </p:txBody>
      </p:sp>
      <p:pic>
        <p:nvPicPr>
          <p:cNvPr id="4" name="Picture 3">
            <a:extLst>
              <a:ext uri="{FF2B5EF4-FFF2-40B4-BE49-F238E27FC236}">
                <a16:creationId xmlns:a16="http://schemas.microsoft.com/office/drawing/2014/main" id="{0E182F9C-D6D6-5928-400F-4440CA639A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621" y="1577205"/>
            <a:ext cx="4285415" cy="2287223"/>
          </a:xfrm>
          <a:prstGeom prst="rect">
            <a:avLst/>
          </a:prstGeom>
        </p:spPr>
      </p:pic>
      <p:sp>
        <p:nvSpPr>
          <p:cNvPr id="6" name="TextBox 5">
            <a:extLst>
              <a:ext uri="{FF2B5EF4-FFF2-40B4-BE49-F238E27FC236}">
                <a16:creationId xmlns:a16="http://schemas.microsoft.com/office/drawing/2014/main" id="{3E2E7F05-B97F-EA49-1D4B-4DC53263F162}"/>
              </a:ext>
            </a:extLst>
          </p:cNvPr>
          <p:cNvSpPr txBox="1"/>
          <p:nvPr/>
        </p:nvSpPr>
        <p:spPr>
          <a:xfrm>
            <a:off x="5048548" y="609015"/>
            <a:ext cx="6100916" cy="769441"/>
          </a:xfrm>
          <a:prstGeom prst="rect">
            <a:avLst/>
          </a:prstGeom>
          <a:noFill/>
        </p:spPr>
        <p:txBody>
          <a:bodyPr wrap="square">
            <a:spAutoFit/>
          </a:bodyPr>
          <a:lstStyle/>
          <a:p>
            <a:r>
              <a:rPr lang="en-US" sz="1800" kern="1200" dirty="0">
                <a:latin typeface="+mj-lt"/>
                <a:ea typeface="+mj-ea"/>
                <a:cs typeface="+mj-cs"/>
              </a:rPr>
              <a:t>3.</a:t>
            </a:r>
            <a:r>
              <a:rPr lang="en-US" sz="1800" b="1" kern="1200" dirty="0">
                <a:latin typeface="+mj-lt"/>
                <a:ea typeface="+mj-ea"/>
                <a:cs typeface="+mj-cs"/>
              </a:rPr>
              <a:t>Top Selling Products </a:t>
            </a:r>
            <a:br>
              <a:rPr lang="en-US" sz="1800" b="1" kern="1200" dirty="0">
                <a:solidFill>
                  <a:schemeClr val="accent1"/>
                </a:solidFill>
                <a:latin typeface="+mj-lt"/>
                <a:ea typeface="+mj-ea"/>
                <a:cs typeface="+mj-cs"/>
              </a:rPr>
            </a:br>
            <a:r>
              <a:rPr lang="en-US" sz="1400" b="1" kern="1200" dirty="0">
                <a:latin typeface="+mj-lt"/>
                <a:ea typeface="+mj-ea"/>
                <a:cs typeface="+mj-cs"/>
              </a:rPr>
              <a:t>Query: </a:t>
            </a:r>
            <a:r>
              <a:rPr lang="en-US" sz="1200" b="1" kern="1200" dirty="0">
                <a:latin typeface="+mj-lt"/>
                <a:ea typeface="+mj-ea"/>
                <a:cs typeface="+mj-cs"/>
              </a:rPr>
              <a:t>SELECT Product, SUM(</a:t>
            </a:r>
            <a:r>
              <a:rPr lang="en-US" sz="1200" b="1" kern="1200" dirty="0" err="1">
                <a:latin typeface="+mj-lt"/>
                <a:ea typeface="+mj-ea"/>
                <a:cs typeface="+mj-cs"/>
              </a:rPr>
              <a:t>Total_Sales</a:t>
            </a:r>
            <a:r>
              <a:rPr lang="en-US" sz="1200" b="1" kern="1200" dirty="0">
                <a:latin typeface="+mj-lt"/>
                <a:ea typeface="+mj-ea"/>
                <a:cs typeface="+mj-cs"/>
              </a:rPr>
              <a:t>) AS </a:t>
            </a:r>
            <a:r>
              <a:rPr lang="en-US" sz="1200" b="1" kern="1200" dirty="0" err="1">
                <a:latin typeface="+mj-lt"/>
                <a:ea typeface="+mj-ea"/>
                <a:cs typeface="+mj-cs"/>
              </a:rPr>
              <a:t>Total_Sales</a:t>
            </a:r>
            <a:r>
              <a:rPr lang="en-US" sz="1200" b="1" kern="1200" dirty="0">
                <a:latin typeface="+mj-lt"/>
                <a:ea typeface="+mj-ea"/>
                <a:cs typeface="+mj-cs"/>
              </a:rPr>
              <a:t> FROM Sales GROUP BY Product</a:t>
            </a:r>
            <a:r>
              <a:rPr lang="en-US" sz="1200" b="1" dirty="0">
                <a:latin typeface="+mj-lt"/>
                <a:ea typeface="+mj-ea"/>
                <a:cs typeface="+mj-cs"/>
              </a:rPr>
              <a:t> </a:t>
            </a:r>
            <a:r>
              <a:rPr lang="en-US" sz="1200" b="1" kern="1200" dirty="0">
                <a:latin typeface="+mj-lt"/>
                <a:ea typeface="+mj-ea"/>
                <a:cs typeface="+mj-cs"/>
              </a:rPr>
              <a:t> ORDER BY </a:t>
            </a:r>
            <a:r>
              <a:rPr lang="en-US" sz="1200" b="1" kern="1200" dirty="0" err="1">
                <a:latin typeface="+mj-lt"/>
                <a:ea typeface="+mj-ea"/>
                <a:cs typeface="+mj-cs"/>
              </a:rPr>
              <a:t>Total_Sales</a:t>
            </a:r>
            <a:r>
              <a:rPr lang="en-US" sz="1200" b="1" kern="1200" dirty="0">
                <a:latin typeface="+mj-lt"/>
                <a:ea typeface="+mj-ea"/>
                <a:cs typeface="+mj-cs"/>
              </a:rPr>
              <a:t> </a:t>
            </a:r>
            <a:endParaRPr lang="en-IN" sz="1200" dirty="0"/>
          </a:p>
        </p:txBody>
      </p:sp>
      <p:pic>
        <p:nvPicPr>
          <p:cNvPr id="8" name="Picture 7">
            <a:extLst>
              <a:ext uri="{FF2B5EF4-FFF2-40B4-BE49-F238E27FC236}">
                <a16:creationId xmlns:a16="http://schemas.microsoft.com/office/drawing/2014/main" id="{72C908DC-1735-5768-D8EE-8D7ED029EC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9093" y="1443234"/>
            <a:ext cx="4975525" cy="2421194"/>
          </a:xfrm>
          <a:prstGeom prst="rect">
            <a:avLst/>
          </a:prstGeom>
        </p:spPr>
      </p:pic>
      <p:sp>
        <p:nvSpPr>
          <p:cNvPr id="21" name="TextBox 20">
            <a:extLst>
              <a:ext uri="{FF2B5EF4-FFF2-40B4-BE49-F238E27FC236}">
                <a16:creationId xmlns:a16="http://schemas.microsoft.com/office/drawing/2014/main" id="{48E06974-FE0B-20F2-812F-45885F680B1F}"/>
              </a:ext>
            </a:extLst>
          </p:cNvPr>
          <p:cNvSpPr txBox="1"/>
          <p:nvPr/>
        </p:nvSpPr>
        <p:spPr>
          <a:xfrm>
            <a:off x="842597" y="4118543"/>
            <a:ext cx="3306616" cy="1354217"/>
          </a:xfrm>
          <a:prstGeom prst="rect">
            <a:avLst/>
          </a:prstGeom>
          <a:noFill/>
        </p:spPr>
        <p:txBody>
          <a:bodyPr wrap="square">
            <a:spAutoFit/>
          </a:bodyPr>
          <a:lstStyle/>
          <a:p>
            <a:r>
              <a:rPr lang="en-US" sz="2000" b="1" kern="1200" dirty="0">
                <a:latin typeface="+mj-lt"/>
                <a:ea typeface="+mj-ea"/>
                <a:cs typeface="+mj-cs"/>
              </a:rPr>
              <a:t>4.Category-wise Sales</a:t>
            </a:r>
            <a:br>
              <a:rPr lang="en-US" sz="1800" b="1" kern="1200" dirty="0">
                <a:latin typeface="+mj-lt"/>
                <a:ea typeface="+mj-ea"/>
                <a:cs typeface="+mj-cs"/>
              </a:rPr>
            </a:br>
            <a:r>
              <a:rPr lang="en-US" sz="1400" b="1" kern="1200" dirty="0">
                <a:latin typeface="+mj-lt"/>
                <a:ea typeface="+mj-ea"/>
                <a:cs typeface="+mj-cs"/>
              </a:rPr>
              <a:t>Query: </a:t>
            </a:r>
            <a:r>
              <a:rPr lang="en-US" sz="1200" b="1" kern="1200" dirty="0">
                <a:latin typeface="+mj-lt"/>
                <a:ea typeface="+mj-ea"/>
                <a:cs typeface="+mj-cs"/>
              </a:rPr>
              <a:t>SELECT Category, SUM(</a:t>
            </a:r>
            <a:r>
              <a:rPr lang="en-US" sz="1200" b="1" kern="1200" dirty="0" err="1">
                <a:latin typeface="+mj-lt"/>
                <a:ea typeface="+mj-ea"/>
                <a:cs typeface="+mj-cs"/>
              </a:rPr>
              <a:t>Total_Sales</a:t>
            </a:r>
            <a:r>
              <a:rPr lang="en-US" sz="1200" b="1" kern="1200" dirty="0">
                <a:latin typeface="+mj-lt"/>
                <a:ea typeface="+mj-ea"/>
                <a:cs typeface="+mj-cs"/>
              </a:rPr>
              <a:t>) AS </a:t>
            </a:r>
            <a:r>
              <a:rPr lang="en-US" sz="1200" b="1" kern="1200" dirty="0" err="1">
                <a:latin typeface="+mj-lt"/>
                <a:ea typeface="+mj-ea"/>
                <a:cs typeface="+mj-cs"/>
              </a:rPr>
              <a:t>Total_Sales</a:t>
            </a:r>
            <a:r>
              <a:rPr lang="en-US" sz="1200" b="1" kern="1200" dirty="0">
                <a:latin typeface="+mj-lt"/>
                <a:ea typeface="+mj-ea"/>
                <a:cs typeface="+mj-cs"/>
              </a:rPr>
              <a:t> FROM Sales GROUP BY Category</a:t>
            </a:r>
            <a:r>
              <a:rPr lang="en-US" sz="1200" b="1" dirty="0">
                <a:latin typeface="+mj-lt"/>
                <a:ea typeface="+mj-ea"/>
                <a:cs typeface="+mj-cs"/>
              </a:rPr>
              <a:t> </a:t>
            </a:r>
            <a:r>
              <a:rPr lang="en-US" sz="1200" b="1" kern="1200" dirty="0">
                <a:latin typeface="+mj-lt"/>
                <a:ea typeface="+mj-ea"/>
                <a:cs typeface="+mj-cs"/>
              </a:rPr>
              <a:t>ORDER BY </a:t>
            </a:r>
            <a:r>
              <a:rPr lang="en-US" sz="1200" b="1" kern="1200" dirty="0" err="1">
                <a:latin typeface="+mj-lt"/>
                <a:ea typeface="+mj-ea"/>
                <a:cs typeface="+mj-cs"/>
              </a:rPr>
              <a:t>Total_Sales</a:t>
            </a:r>
            <a:r>
              <a:rPr lang="en-US" sz="1200" b="1" kern="1200" dirty="0">
                <a:latin typeface="+mj-lt"/>
                <a:ea typeface="+mj-ea"/>
                <a:cs typeface="+mj-cs"/>
              </a:rPr>
              <a:t> DESC;</a:t>
            </a:r>
            <a:br>
              <a:rPr lang="en-US" sz="1200" b="1" kern="1200" dirty="0">
                <a:latin typeface="+mj-lt"/>
                <a:ea typeface="+mj-ea"/>
                <a:cs typeface="+mj-cs"/>
              </a:rPr>
            </a:br>
            <a:br>
              <a:rPr lang="en-US" sz="1200" b="1" kern="1200" dirty="0">
                <a:solidFill>
                  <a:schemeClr val="accent1"/>
                </a:solidFill>
                <a:latin typeface="+mj-lt"/>
                <a:ea typeface="+mj-ea"/>
                <a:cs typeface="+mj-cs"/>
              </a:rPr>
            </a:br>
            <a:endParaRPr lang="en-IN" sz="1200" dirty="0"/>
          </a:p>
        </p:txBody>
      </p:sp>
      <p:pic>
        <p:nvPicPr>
          <p:cNvPr id="23" name="Picture 22">
            <a:extLst>
              <a:ext uri="{FF2B5EF4-FFF2-40B4-BE49-F238E27FC236}">
                <a16:creationId xmlns:a16="http://schemas.microsoft.com/office/drawing/2014/main" id="{963AE0F3-570E-42FC-5317-FB0CC669A1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1519" y="4080321"/>
            <a:ext cx="5695539" cy="2605614"/>
          </a:xfrm>
          <a:prstGeom prst="rect">
            <a:avLst/>
          </a:prstGeom>
        </p:spPr>
      </p:pic>
    </p:spTree>
    <p:extLst>
      <p:ext uri="{BB962C8B-B14F-4D97-AF65-F5344CB8AC3E}">
        <p14:creationId xmlns:p14="http://schemas.microsoft.com/office/powerpoint/2010/main" val="4134860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856E2-6EBA-9949-7D2C-2E7110328348}"/>
              </a:ext>
            </a:extLst>
          </p:cNvPr>
          <p:cNvSpPr>
            <a:spLocks noGrp="1"/>
          </p:cNvSpPr>
          <p:nvPr>
            <p:ph type="title"/>
          </p:nvPr>
        </p:nvSpPr>
        <p:spPr>
          <a:xfrm>
            <a:off x="677334" y="609600"/>
            <a:ext cx="8596668" cy="648929"/>
          </a:xfrm>
        </p:spPr>
        <p:txBody>
          <a:bodyPr>
            <a:normAutofit fontScale="90000"/>
          </a:bodyPr>
          <a:lstStyle/>
          <a:p>
            <a:r>
              <a:rPr lang="en-IN"/>
              <a:t>                     Power BI Dashboard</a:t>
            </a:r>
            <a:br>
              <a:rPr lang="en-IN"/>
            </a:br>
            <a:endParaRPr lang="en-IN" dirty="0"/>
          </a:p>
        </p:txBody>
      </p:sp>
      <p:sp>
        <p:nvSpPr>
          <p:cNvPr id="4" name="TextBox 3">
            <a:extLst>
              <a:ext uri="{FF2B5EF4-FFF2-40B4-BE49-F238E27FC236}">
                <a16:creationId xmlns:a16="http://schemas.microsoft.com/office/drawing/2014/main" id="{5E093515-9DF3-2028-3E5C-F6BB9ED413C4}"/>
              </a:ext>
            </a:extLst>
          </p:cNvPr>
          <p:cNvSpPr txBox="1"/>
          <p:nvPr/>
        </p:nvSpPr>
        <p:spPr>
          <a:xfrm>
            <a:off x="1093838" y="818389"/>
            <a:ext cx="6100916" cy="5940088"/>
          </a:xfrm>
          <a:prstGeom prst="rect">
            <a:avLst/>
          </a:prstGeom>
          <a:noFill/>
        </p:spPr>
        <p:txBody>
          <a:bodyPr wrap="square">
            <a:spAutoFit/>
          </a:bodyPr>
          <a:lstStyle/>
          <a:p>
            <a:endParaRPr lang="en-IN" dirty="0"/>
          </a:p>
          <a:p>
            <a:r>
              <a:rPr lang="en-IN" dirty="0"/>
              <a:t>      </a:t>
            </a:r>
          </a:p>
          <a:p>
            <a:r>
              <a:rPr lang="en-IN" sz="2000" dirty="0">
                <a:solidFill>
                  <a:schemeClr val="accent1"/>
                </a:solidFill>
              </a:rPr>
              <a:t>KPIs</a:t>
            </a:r>
          </a:p>
          <a:p>
            <a:r>
              <a:rPr lang="en-IN" sz="1600" dirty="0"/>
              <a:t>✔ Total Sales</a:t>
            </a:r>
          </a:p>
          <a:p>
            <a:r>
              <a:rPr lang="en-IN" sz="1600" dirty="0"/>
              <a:t>✔ Total Orders</a:t>
            </a:r>
          </a:p>
          <a:p>
            <a:r>
              <a:rPr lang="en-IN" sz="1600" dirty="0"/>
              <a:t>✔ Average Sales</a:t>
            </a:r>
          </a:p>
          <a:p>
            <a:r>
              <a:rPr lang="en-IN" sz="1600" dirty="0"/>
              <a:t>✔ Total Quantity Sold</a:t>
            </a:r>
          </a:p>
          <a:p>
            <a:endParaRPr lang="en-IN" sz="2000" dirty="0"/>
          </a:p>
          <a:p>
            <a:r>
              <a:rPr lang="en-IN" sz="2000" dirty="0">
                <a:solidFill>
                  <a:schemeClr val="accent1"/>
                </a:solidFill>
              </a:rPr>
              <a:t>Interactive Filters</a:t>
            </a:r>
          </a:p>
          <a:p>
            <a:r>
              <a:rPr lang="en-IN" sz="1600" dirty="0"/>
              <a:t>✔ Category</a:t>
            </a:r>
          </a:p>
          <a:p>
            <a:r>
              <a:rPr lang="en-IN" sz="1600" dirty="0"/>
              <a:t>✔ Product</a:t>
            </a:r>
          </a:p>
          <a:p>
            <a:r>
              <a:rPr lang="en-IN" sz="1600" dirty="0"/>
              <a:t>✔ City</a:t>
            </a:r>
          </a:p>
          <a:p>
            <a:r>
              <a:rPr lang="en-IN" sz="1600" dirty="0"/>
              <a:t>✔ Gender</a:t>
            </a:r>
          </a:p>
          <a:p>
            <a:endParaRPr lang="en-IN" sz="2000" dirty="0">
              <a:solidFill>
                <a:schemeClr val="accent1"/>
              </a:solidFill>
            </a:endParaRPr>
          </a:p>
          <a:p>
            <a:r>
              <a:rPr lang="en-IN" sz="2000" dirty="0">
                <a:solidFill>
                  <a:schemeClr val="accent1"/>
                </a:solidFill>
              </a:rPr>
              <a:t>Visualizations</a:t>
            </a:r>
          </a:p>
          <a:p>
            <a:r>
              <a:rPr lang="en-IN" sz="1600" dirty="0"/>
              <a:t>✔ Bar Chart</a:t>
            </a:r>
          </a:p>
          <a:p>
            <a:r>
              <a:rPr lang="en-IN" sz="1600" dirty="0"/>
              <a:t>✔ Histogram</a:t>
            </a:r>
          </a:p>
          <a:p>
            <a:r>
              <a:rPr lang="en-IN" sz="1600" dirty="0"/>
              <a:t>✔ Heatmap</a:t>
            </a:r>
          </a:p>
          <a:p>
            <a:r>
              <a:rPr lang="en-IN" sz="1600" dirty="0"/>
              <a:t>✔ KPI Cards</a:t>
            </a:r>
          </a:p>
          <a:p>
            <a:endParaRPr lang="en-IN" sz="1600" dirty="0"/>
          </a:p>
          <a:p>
            <a:r>
              <a:rPr lang="en-IN" sz="2000" dirty="0">
                <a:solidFill>
                  <a:schemeClr val="accent1"/>
                </a:solidFill>
              </a:rPr>
              <a:t>Key Benefit</a:t>
            </a:r>
          </a:p>
          <a:p>
            <a:r>
              <a:rPr lang="en-IN" sz="1600" dirty="0"/>
              <a:t>• Interactive dashboard for business decision-making.</a:t>
            </a:r>
          </a:p>
        </p:txBody>
      </p:sp>
      <p:pic>
        <p:nvPicPr>
          <p:cNvPr id="6" name="Picture 5">
            <a:extLst>
              <a:ext uri="{FF2B5EF4-FFF2-40B4-BE49-F238E27FC236}">
                <a16:creationId xmlns:a16="http://schemas.microsoft.com/office/drawing/2014/main" id="{C9F13C56-23F5-B11F-A2DF-1A36298ADC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5672" y="1867744"/>
            <a:ext cx="5771285" cy="3912185"/>
          </a:xfrm>
          <a:prstGeom prst="rect">
            <a:avLst/>
          </a:prstGeom>
        </p:spPr>
      </p:pic>
    </p:spTree>
    <p:extLst>
      <p:ext uri="{BB962C8B-B14F-4D97-AF65-F5344CB8AC3E}">
        <p14:creationId xmlns:p14="http://schemas.microsoft.com/office/powerpoint/2010/main" val="953076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0BE40E3-5550-4CDD-B4FD-387C33EBF1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71A6B738-E50C-4653-B343-B9D6A5EA2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98768D6-B28C-40A3-B381-39306F5816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27C15B9-7795-4321-AB30-DF1DEF65C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578EC957-1F3F-4C00-B023-C8725C217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3D642632-BBD5-46D6-A91D-9B2BF6821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BF9D518D-AFF5-4DE2-AEE2-0EC15479A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14EF979B-B00D-460C-BD56-7EEAFB7E0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3E40F9A1-6B82-400F-9397-26D1D36F1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2EF7DDF1-FF86-4CA4-B08B-8939557EB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6D7C1F89-72B2-4FDC-B9E2-04F52D5C5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B247A255-FF1F-FF9F-E9A1-2C48E3C239BD}"/>
              </a:ext>
            </a:extLst>
          </p:cNvPr>
          <p:cNvSpPr>
            <a:spLocks noGrp="1"/>
          </p:cNvSpPr>
          <p:nvPr>
            <p:ph type="title"/>
          </p:nvPr>
        </p:nvSpPr>
        <p:spPr>
          <a:xfrm>
            <a:off x="2849562" y="609600"/>
            <a:ext cx="6424440" cy="1320800"/>
          </a:xfrm>
        </p:spPr>
        <p:txBody>
          <a:bodyPr vert="horz" lIns="91440" tIns="45720" rIns="91440" bIns="45720" rtlCol="0" anchor="t">
            <a:normAutofit/>
          </a:bodyPr>
          <a:lstStyle/>
          <a:p>
            <a:r>
              <a:rPr lang="en-US"/>
              <a:t>                  Business Insights</a:t>
            </a:r>
            <a:br>
              <a:rPr lang="en-US"/>
            </a:br>
            <a:endParaRPr lang="en-US"/>
          </a:p>
        </p:txBody>
      </p:sp>
      <p:pic>
        <p:nvPicPr>
          <p:cNvPr id="6" name="Picture 5" descr="Laptop on a table">
            <a:extLst>
              <a:ext uri="{FF2B5EF4-FFF2-40B4-BE49-F238E27FC236}">
                <a16:creationId xmlns:a16="http://schemas.microsoft.com/office/drawing/2014/main" id="{58DA604D-05DA-0418-981E-B11DC326A3D2}"/>
              </a:ext>
            </a:extLst>
          </p:cNvPr>
          <p:cNvPicPr>
            <a:picLocks noChangeAspect="1"/>
          </p:cNvPicPr>
          <p:nvPr/>
        </p:nvPicPr>
        <p:blipFill>
          <a:blip r:embed="rId2"/>
          <a:srcRect l="32808" r="40620" b="1"/>
          <a:stretch>
            <a:fillRect/>
          </a:stretch>
        </p:blipFill>
        <p:spPr>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22" name="Isosceles Triangle 21">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4" name="TextBox 3">
            <a:extLst>
              <a:ext uri="{FF2B5EF4-FFF2-40B4-BE49-F238E27FC236}">
                <a16:creationId xmlns:a16="http://schemas.microsoft.com/office/drawing/2014/main" id="{7514BACF-4426-AD97-F101-C54FE239DC63}"/>
              </a:ext>
            </a:extLst>
          </p:cNvPr>
          <p:cNvSpPr txBox="1"/>
          <p:nvPr/>
        </p:nvSpPr>
        <p:spPr>
          <a:xfrm>
            <a:off x="2966486" y="1621971"/>
            <a:ext cx="6424440" cy="4495591"/>
          </a:xfrm>
          <a:prstGeom prst="rect">
            <a:avLst/>
          </a:prstGeom>
        </p:spPr>
        <p:txBody>
          <a:bodyPr vert="horz" lIns="91440" tIns="45720" rIns="91440" bIns="45720" rtlCol="0">
            <a:normAutofit/>
          </a:bodyPr>
          <a:lstStyle/>
          <a:p>
            <a:pPr>
              <a:lnSpc>
                <a:spcPct val="90000"/>
              </a:lnSpc>
              <a:spcBef>
                <a:spcPts val="1000"/>
              </a:spcBef>
              <a:buClr>
                <a:schemeClr val="accent1"/>
              </a:buClr>
              <a:buSzPct val="80000"/>
            </a:pPr>
            <a:r>
              <a:rPr lang="en-US" b="1" dirty="0">
                <a:solidFill>
                  <a:schemeClr val="tx1">
                    <a:lumMod val="75000"/>
                    <a:lumOff val="25000"/>
                  </a:schemeClr>
                </a:solidFill>
              </a:rPr>
              <a:t>Key Business Insights</a:t>
            </a:r>
          </a:p>
          <a:p>
            <a:pPr>
              <a:lnSpc>
                <a:spcPct val="90000"/>
              </a:lnSpc>
              <a:spcBef>
                <a:spcPts val="1000"/>
              </a:spcBef>
              <a:buClr>
                <a:schemeClr val="accent1"/>
              </a:buClr>
              <a:buSzPct val="80000"/>
              <a:buFont typeface="Wingdings 3" charset="2"/>
              <a:buChar char=""/>
            </a:pPr>
            <a:r>
              <a:rPr lang="en-US" sz="1400" dirty="0">
                <a:solidFill>
                  <a:schemeClr val="tx1">
                    <a:lumMod val="75000"/>
                    <a:lumOff val="25000"/>
                  </a:schemeClr>
                </a:solidFill>
              </a:rPr>
              <a:t>Electronics generated the highest total sales, making it the best-performing product category.</a:t>
            </a:r>
          </a:p>
          <a:p>
            <a:pPr>
              <a:lnSpc>
                <a:spcPct val="90000"/>
              </a:lnSpc>
              <a:spcBef>
                <a:spcPts val="1000"/>
              </a:spcBef>
              <a:buClr>
                <a:schemeClr val="accent1"/>
              </a:buClr>
              <a:buSzPct val="80000"/>
              <a:buFont typeface="Wingdings 3" charset="2"/>
              <a:buChar char=""/>
            </a:pPr>
            <a:r>
              <a:rPr lang="en-US" sz="1400" dirty="0">
                <a:solidFill>
                  <a:schemeClr val="tx1">
                    <a:lumMod val="75000"/>
                    <a:lumOff val="25000"/>
                  </a:schemeClr>
                </a:solidFill>
              </a:rPr>
              <a:t>Education ranked second in total sales, followed by Grocery, Furniture, and Fashion.</a:t>
            </a:r>
          </a:p>
          <a:p>
            <a:pPr>
              <a:lnSpc>
                <a:spcPct val="90000"/>
              </a:lnSpc>
              <a:spcBef>
                <a:spcPts val="1000"/>
              </a:spcBef>
              <a:buClr>
                <a:schemeClr val="accent1"/>
              </a:buClr>
              <a:buSzPct val="80000"/>
              <a:buFont typeface="Wingdings 3" charset="2"/>
              <a:buChar char=""/>
            </a:pPr>
            <a:r>
              <a:rPr lang="en-US" sz="1400" dirty="0">
                <a:solidFill>
                  <a:schemeClr val="tx1">
                    <a:lumMod val="75000"/>
                    <a:lumOff val="25000"/>
                  </a:schemeClr>
                </a:solidFill>
              </a:rPr>
              <a:t>Laptop is the top-selling product, followed closely by Mobile, indicating strong demand for electronic products.</a:t>
            </a:r>
          </a:p>
          <a:p>
            <a:pPr>
              <a:lnSpc>
                <a:spcPct val="90000"/>
              </a:lnSpc>
              <a:spcBef>
                <a:spcPts val="1000"/>
              </a:spcBef>
              <a:buClr>
                <a:schemeClr val="accent1"/>
              </a:buClr>
              <a:buSzPct val="80000"/>
              <a:buFont typeface="Wingdings 3" charset="2"/>
              <a:buChar char=""/>
            </a:pPr>
            <a:r>
              <a:rPr lang="en-US" sz="1400" dirty="0">
                <a:solidFill>
                  <a:schemeClr val="tx1">
                    <a:lumMod val="75000"/>
                    <a:lumOff val="25000"/>
                  </a:schemeClr>
                </a:solidFill>
              </a:rPr>
              <a:t>Patna recorded the highest total sales among all cities, followed by Kolkata, Bengaluru, Mumbai, and Hyderabad.</a:t>
            </a:r>
          </a:p>
          <a:p>
            <a:pPr>
              <a:lnSpc>
                <a:spcPct val="90000"/>
              </a:lnSpc>
              <a:spcBef>
                <a:spcPts val="1000"/>
              </a:spcBef>
              <a:buClr>
                <a:schemeClr val="accent1"/>
              </a:buClr>
              <a:buSzPct val="80000"/>
              <a:buFont typeface="Wingdings 3" charset="2"/>
              <a:buChar char=""/>
            </a:pPr>
            <a:r>
              <a:rPr lang="en-US" sz="1400" dirty="0">
                <a:solidFill>
                  <a:schemeClr val="tx1">
                    <a:lumMod val="75000"/>
                    <a:lumOff val="25000"/>
                  </a:schemeClr>
                </a:solidFill>
              </a:rPr>
              <a:t>The customer base is well balanced, with 511 male customers and 489 female customers.</a:t>
            </a:r>
          </a:p>
          <a:p>
            <a:pPr>
              <a:lnSpc>
                <a:spcPct val="90000"/>
              </a:lnSpc>
              <a:spcBef>
                <a:spcPts val="1000"/>
              </a:spcBef>
              <a:buClr>
                <a:schemeClr val="accent1"/>
              </a:buClr>
              <a:buSzPct val="80000"/>
              <a:buFont typeface="Wingdings 3" charset="2"/>
              <a:buChar char=""/>
            </a:pPr>
            <a:r>
              <a:rPr lang="en-US" sz="1400" dirty="0">
                <a:solidFill>
                  <a:schemeClr val="tx1">
                    <a:lumMod val="75000"/>
                    <a:lumOff val="25000"/>
                  </a:schemeClr>
                </a:solidFill>
              </a:rPr>
              <a:t>Sales transactions cover multiple categories and cities, helping identify regional and product-level business opportunities.</a:t>
            </a:r>
          </a:p>
          <a:p>
            <a:pPr>
              <a:lnSpc>
                <a:spcPct val="90000"/>
              </a:lnSpc>
              <a:spcBef>
                <a:spcPts val="1000"/>
              </a:spcBef>
              <a:buClr>
                <a:schemeClr val="accent1"/>
              </a:buClr>
              <a:buSzPct val="80000"/>
              <a:buFont typeface="Wingdings 3" charset="2"/>
              <a:buChar char=""/>
            </a:pPr>
            <a:r>
              <a:rPr lang="en-US" sz="1400" dirty="0">
                <a:solidFill>
                  <a:schemeClr val="tx1">
                    <a:lumMod val="75000"/>
                    <a:lumOff val="25000"/>
                  </a:schemeClr>
                </a:solidFill>
              </a:rPr>
              <a:t>The analysis highlights that electronic products contribute significantly to overall business revenue.</a:t>
            </a:r>
          </a:p>
        </p:txBody>
      </p:sp>
    </p:spTree>
    <p:extLst>
      <p:ext uri="{BB962C8B-B14F-4D97-AF65-F5344CB8AC3E}">
        <p14:creationId xmlns:p14="http://schemas.microsoft.com/office/powerpoint/2010/main" val="1929720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10BE40E3-5550-4CDD-B4FD-387C33EBF1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2" name="Straight Connector 31">
              <a:extLst>
                <a:ext uri="{FF2B5EF4-FFF2-40B4-BE49-F238E27FC236}">
                  <a16:creationId xmlns:a16="http://schemas.microsoft.com/office/drawing/2014/main" id="{71A6B738-E50C-4653-B343-B9D6A5EA2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98768D6-B28C-40A3-B381-39306F5816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4" name="Rectangle 23">
              <a:extLst>
                <a:ext uri="{FF2B5EF4-FFF2-40B4-BE49-F238E27FC236}">
                  <a16:creationId xmlns:a16="http://schemas.microsoft.com/office/drawing/2014/main" id="{B27C15B9-7795-4321-AB30-DF1DEF65C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Rectangle 25">
              <a:extLst>
                <a:ext uri="{FF2B5EF4-FFF2-40B4-BE49-F238E27FC236}">
                  <a16:creationId xmlns:a16="http://schemas.microsoft.com/office/drawing/2014/main" id="{578EC957-1F3F-4C00-B023-C8725C217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Isosceles Triangle 35">
              <a:extLst>
                <a:ext uri="{FF2B5EF4-FFF2-40B4-BE49-F238E27FC236}">
                  <a16:creationId xmlns:a16="http://schemas.microsoft.com/office/drawing/2014/main" id="{3D642632-BBD5-46D6-A91D-9B2BF6821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7" name="Rectangle 27">
              <a:extLst>
                <a:ext uri="{FF2B5EF4-FFF2-40B4-BE49-F238E27FC236}">
                  <a16:creationId xmlns:a16="http://schemas.microsoft.com/office/drawing/2014/main" id="{BF9D518D-AFF5-4DE2-AEE2-0EC15479A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8" name="Rectangle 28">
              <a:extLst>
                <a:ext uri="{FF2B5EF4-FFF2-40B4-BE49-F238E27FC236}">
                  <a16:creationId xmlns:a16="http://schemas.microsoft.com/office/drawing/2014/main" id="{14EF979B-B00D-460C-BD56-7EEAFB7E0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9" name="Rectangle 29">
              <a:extLst>
                <a:ext uri="{FF2B5EF4-FFF2-40B4-BE49-F238E27FC236}">
                  <a16:creationId xmlns:a16="http://schemas.microsoft.com/office/drawing/2014/main" id="{3E40F9A1-6B82-400F-9397-26D1D36F1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40" name="Isosceles Triangle 39">
              <a:extLst>
                <a:ext uri="{FF2B5EF4-FFF2-40B4-BE49-F238E27FC236}">
                  <a16:creationId xmlns:a16="http://schemas.microsoft.com/office/drawing/2014/main" id="{2EF7DDF1-FF86-4CA4-B08B-8939557EB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1" name="Isosceles Triangle 40">
              <a:extLst>
                <a:ext uri="{FF2B5EF4-FFF2-40B4-BE49-F238E27FC236}">
                  <a16:creationId xmlns:a16="http://schemas.microsoft.com/office/drawing/2014/main" id="{6D7C1F89-72B2-4FDC-B9E2-04F52D5C5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43" name="Rectangle 42">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descr="Formulas written on a blackboard">
            <a:extLst>
              <a:ext uri="{FF2B5EF4-FFF2-40B4-BE49-F238E27FC236}">
                <a16:creationId xmlns:a16="http://schemas.microsoft.com/office/drawing/2014/main" id="{67463F3B-4494-90EC-7430-BA09D1F7AE2F}"/>
              </a:ext>
            </a:extLst>
          </p:cNvPr>
          <p:cNvPicPr>
            <a:picLocks noChangeAspect="1"/>
          </p:cNvPicPr>
          <p:nvPr/>
        </p:nvPicPr>
        <p:blipFill>
          <a:blip r:embed="rId2">
            <a:duotone>
              <a:prstClr val="black"/>
              <a:schemeClr val="tx2">
                <a:tint val="45000"/>
                <a:satMod val="400000"/>
              </a:schemeClr>
            </a:duotone>
            <a:alphaModFix amt="40000"/>
          </a:blip>
          <a:srcRect t="1573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92B07EF1-A5DD-A0CA-5A45-83C71EE33565}"/>
              </a:ext>
            </a:extLst>
          </p:cNvPr>
          <p:cNvSpPr>
            <a:spLocks noGrp="1"/>
          </p:cNvSpPr>
          <p:nvPr>
            <p:ph type="title"/>
          </p:nvPr>
        </p:nvSpPr>
        <p:spPr>
          <a:xfrm>
            <a:off x="677334" y="609600"/>
            <a:ext cx="8596668" cy="1320800"/>
          </a:xfrm>
        </p:spPr>
        <p:txBody>
          <a:bodyPr vert="horz" lIns="91440" tIns="45720" rIns="91440" bIns="45720" rtlCol="0" anchor="t">
            <a:normAutofit/>
          </a:bodyPr>
          <a:lstStyle/>
          <a:p>
            <a:r>
              <a:rPr lang="en-US"/>
              <a:t>           Statistical Validation</a:t>
            </a:r>
            <a:br>
              <a:rPr lang="en-US"/>
            </a:br>
            <a:endParaRPr lang="en-US"/>
          </a:p>
        </p:txBody>
      </p:sp>
      <p:sp>
        <p:nvSpPr>
          <p:cNvPr id="4" name="TextBox 3">
            <a:extLst>
              <a:ext uri="{FF2B5EF4-FFF2-40B4-BE49-F238E27FC236}">
                <a16:creationId xmlns:a16="http://schemas.microsoft.com/office/drawing/2014/main" id="{D86C4CE2-ED7E-170E-98C0-A065A47C21A3}"/>
              </a:ext>
            </a:extLst>
          </p:cNvPr>
          <p:cNvSpPr txBox="1"/>
          <p:nvPr/>
        </p:nvSpPr>
        <p:spPr>
          <a:xfrm>
            <a:off x="707582" y="1595641"/>
            <a:ext cx="9882629" cy="4489473"/>
          </a:xfrm>
          <a:prstGeom prst="rect">
            <a:avLst/>
          </a:prstGeom>
        </p:spPr>
        <p:txBody>
          <a:bodyPr vert="horz" lIns="91440" tIns="45720" rIns="91440" bIns="45720" rtlCol="0">
            <a:normAutofit lnSpcReduction="10000"/>
          </a:bodyPr>
          <a:lstStyle/>
          <a:p>
            <a:pPr>
              <a:lnSpc>
                <a:spcPct val="90000"/>
              </a:lnSpc>
              <a:spcBef>
                <a:spcPts val="1000"/>
              </a:spcBef>
              <a:buClr>
                <a:schemeClr val="accent1"/>
              </a:buClr>
              <a:buSzPct val="80000"/>
            </a:pPr>
            <a:r>
              <a:rPr lang="en-US" sz="2400" b="1" dirty="0">
                <a:solidFill>
                  <a:srgbClr val="FFFFFF"/>
                </a:solidFill>
              </a:rPr>
              <a:t>Hypothesis</a:t>
            </a:r>
          </a:p>
          <a:p>
            <a:pPr>
              <a:lnSpc>
                <a:spcPct val="90000"/>
              </a:lnSpc>
              <a:spcBef>
                <a:spcPts val="1000"/>
              </a:spcBef>
              <a:buClr>
                <a:schemeClr val="accent1"/>
              </a:buClr>
              <a:buSzPct val="80000"/>
              <a:buFont typeface="Wingdings 3" charset="2"/>
              <a:buChar char=""/>
            </a:pPr>
            <a:r>
              <a:rPr lang="en-US" sz="1300" b="1" dirty="0">
                <a:solidFill>
                  <a:srgbClr val="FFFFFF"/>
                </a:solidFill>
              </a:rPr>
              <a:t>Null Hypothesis (H₀): </a:t>
            </a:r>
            <a:r>
              <a:rPr lang="en-US" sz="1300" dirty="0">
                <a:solidFill>
                  <a:srgbClr val="FFFFFF"/>
                </a:solidFill>
              </a:rPr>
              <a:t>There is no significant relationship between Quantity Sold and Total Sales.</a:t>
            </a:r>
          </a:p>
          <a:p>
            <a:pPr>
              <a:lnSpc>
                <a:spcPct val="90000"/>
              </a:lnSpc>
              <a:spcBef>
                <a:spcPts val="1000"/>
              </a:spcBef>
              <a:buClr>
                <a:schemeClr val="accent1"/>
              </a:buClr>
              <a:buSzPct val="80000"/>
              <a:buFont typeface="Wingdings 3" charset="2"/>
              <a:buChar char=""/>
            </a:pPr>
            <a:r>
              <a:rPr lang="en-US" sz="1300" b="1" dirty="0">
                <a:solidFill>
                  <a:srgbClr val="FFFFFF"/>
                </a:solidFill>
              </a:rPr>
              <a:t>Alternative Hypothesis (H₁): </a:t>
            </a:r>
            <a:r>
              <a:rPr lang="en-US" sz="1300" dirty="0">
                <a:solidFill>
                  <a:srgbClr val="FFFFFF"/>
                </a:solidFill>
              </a:rPr>
              <a:t>There is a significant relationship between Quantity Sold and Total Sales.</a:t>
            </a:r>
          </a:p>
          <a:p>
            <a:pPr>
              <a:lnSpc>
                <a:spcPct val="90000"/>
              </a:lnSpc>
              <a:spcBef>
                <a:spcPts val="1000"/>
              </a:spcBef>
              <a:buClr>
                <a:schemeClr val="accent1"/>
              </a:buClr>
              <a:buSzPct val="80000"/>
            </a:pPr>
            <a:r>
              <a:rPr lang="en-US" sz="2400" b="1" dirty="0">
                <a:solidFill>
                  <a:srgbClr val="FFFFFF"/>
                </a:solidFill>
              </a:rPr>
              <a:t>Statistical Test Used</a:t>
            </a:r>
          </a:p>
          <a:p>
            <a:pPr>
              <a:lnSpc>
                <a:spcPct val="90000"/>
              </a:lnSpc>
              <a:spcBef>
                <a:spcPts val="1000"/>
              </a:spcBef>
              <a:buClr>
                <a:schemeClr val="accent1"/>
              </a:buClr>
              <a:buSzPct val="80000"/>
              <a:buFont typeface="Wingdings 3" charset="2"/>
              <a:buChar char=""/>
            </a:pPr>
            <a:r>
              <a:rPr lang="en-US" sz="1300" dirty="0">
                <a:solidFill>
                  <a:srgbClr val="FFFFFF"/>
                </a:solidFill>
              </a:rPr>
              <a:t>Pearson Correlation Test</a:t>
            </a:r>
          </a:p>
          <a:p>
            <a:pPr>
              <a:lnSpc>
                <a:spcPct val="90000"/>
              </a:lnSpc>
              <a:spcBef>
                <a:spcPts val="1000"/>
              </a:spcBef>
              <a:buClr>
                <a:schemeClr val="accent1"/>
              </a:buClr>
              <a:buSzPct val="80000"/>
            </a:pPr>
            <a:r>
              <a:rPr lang="en-US" sz="2600" b="1" dirty="0">
                <a:solidFill>
                  <a:srgbClr val="FFFFFF"/>
                </a:solidFill>
              </a:rPr>
              <a:t>Results</a:t>
            </a:r>
          </a:p>
          <a:p>
            <a:pPr>
              <a:lnSpc>
                <a:spcPct val="90000"/>
              </a:lnSpc>
              <a:spcBef>
                <a:spcPts val="1000"/>
              </a:spcBef>
              <a:buClr>
                <a:schemeClr val="accent1"/>
              </a:buClr>
              <a:buSzPct val="80000"/>
              <a:buFont typeface="Wingdings 3" charset="2"/>
              <a:buChar char=""/>
            </a:pPr>
            <a:r>
              <a:rPr lang="en-US" sz="1300" dirty="0">
                <a:solidFill>
                  <a:srgbClr val="FFFFFF"/>
                </a:solidFill>
              </a:rPr>
              <a:t>Correlation Coefficient (r): 0.647</a:t>
            </a:r>
          </a:p>
          <a:p>
            <a:pPr>
              <a:lnSpc>
                <a:spcPct val="90000"/>
              </a:lnSpc>
              <a:spcBef>
                <a:spcPts val="1000"/>
              </a:spcBef>
              <a:buClr>
                <a:schemeClr val="accent1"/>
              </a:buClr>
              <a:buSzPct val="80000"/>
              <a:buFont typeface="Wingdings 3" charset="2"/>
              <a:buChar char=""/>
            </a:pPr>
            <a:r>
              <a:rPr lang="en-US" sz="1300" dirty="0">
                <a:solidFill>
                  <a:srgbClr val="FFFFFF"/>
                </a:solidFill>
              </a:rPr>
              <a:t>p-value: 1.71 × 10⁻¹¹⁹ (approximately 0.000)</a:t>
            </a:r>
          </a:p>
          <a:p>
            <a:pPr>
              <a:lnSpc>
                <a:spcPct val="90000"/>
              </a:lnSpc>
              <a:spcBef>
                <a:spcPts val="1000"/>
              </a:spcBef>
              <a:buClr>
                <a:schemeClr val="accent1"/>
              </a:buClr>
              <a:buSzPct val="80000"/>
            </a:pPr>
            <a:r>
              <a:rPr lang="en-US" sz="2600" b="1" dirty="0">
                <a:solidFill>
                  <a:srgbClr val="FFFFFF"/>
                </a:solidFill>
              </a:rPr>
              <a:t>Decision</a:t>
            </a:r>
          </a:p>
          <a:p>
            <a:pPr>
              <a:lnSpc>
                <a:spcPct val="90000"/>
              </a:lnSpc>
              <a:spcBef>
                <a:spcPts val="1000"/>
              </a:spcBef>
              <a:buClr>
                <a:schemeClr val="accent1"/>
              </a:buClr>
              <a:buSzPct val="80000"/>
              <a:buFont typeface="Wingdings 3" charset="2"/>
              <a:buChar char=""/>
            </a:pPr>
            <a:r>
              <a:rPr lang="en-US" sz="1300" dirty="0">
                <a:solidFill>
                  <a:srgbClr val="FFFFFF"/>
                </a:solidFill>
              </a:rPr>
              <a:t>Since p-value &lt; 0.05, Reject the Null Hypothesis (H₀).</a:t>
            </a:r>
          </a:p>
          <a:p>
            <a:pPr>
              <a:lnSpc>
                <a:spcPct val="90000"/>
              </a:lnSpc>
              <a:spcBef>
                <a:spcPts val="1000"/>
              </a:spcBef>
              <a:buClr>
                <a:schemeClr val="accent1"/>
              </a:buClr>
              <a:buSzPct val="80000"/>
            </a:pPr>
            <a:r>
              <a:rPr lang="en-US" sz="2600" b="1" dirty="0">
                <a:solidFill>
                  <a:srgbClr val="FFFFFF"/>
                </a:solidFill>
              </a:rPr>
              <a:t>Conclusion</a:t>
            </a:r>
          </a:p>
          <a:p>
            <a:pPr>
              <a:lnSpc>
                <a:spcPct val="90000"/>
              </a:lnSpc>
              <a:spcBef>
                <a:spcPts val="1000"/>
              </a:spcBef>
              <a:buClr>
                <a:schemeClr val="accent1"/>
              </a:buClr>
              <a:buSzPct val="80000"/>
              <a:buFont typeface="Wingdings 3" charset="2"/>
              <a:buChar char=""/>
            </a:pPr>
            <a:r>
              <a:rPr lang="en-US" sz="1300" dirty="0">
                <a:solidFill>
                  <a:srgbClr val="FFFFFF"/>
                </a:solidFill>
              </a:rPr>
              <a:t>There is a statistically significant positive relationship between Quantity Sold and Total Sales. This means that, in general, as the quantity of products sold increases, the total sales value also increases.</a:t>
            </a:r>
          </a:p>
        </p:txBody>
      </p:sp>
    </p:spTree>
    <p:extLst>
      <p:ext uri="{BB962C8B-B14F-4D97-AF65-F5344CB8AC3E}">
        <p14:creationId xmlns:p14="http://schemas.microsoft.com/office/powerpoint/2010/main" val="988811865"/>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2" name="Rectangle 21">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3C0F08-5A51-C281-BF30-E971A067E207}"/>
              </a:ext>
            </a:extLst>
          </p:cNvPr>
          <p:cNvSpPr>
            <a:spLocks noGrp="1"/>
          </p:cNvSpPr>
          <p:nvPr>
            <p:ph type="title"/>
          </p:nvPr>
        </p:nvSpPr>
        <p:spPr>
          <a:xfrm>
            <a:off x="1286933" y="609600"/>
            <a:ext cx="10197494" cy="1099457"/>
          </a:xfrm>
        </p:spPr>
        <p:txBody>
          <a:bodyPr vert="horz" lIns="91440" tIns="45720" rIns="91440" bIns="45720" rtlCol="0" anchor="t">
            <a:normAutofit/>
          </a:bodyPr>
          <a:lstStyle/>
          <a:p>
            <a:pPr>
              <a:lnSpc>
                <a:spcPct val="90000"/>
              </a:lnSpc>
            </a:pPr>
            <a:r>
              <a:rPr lang="en-US"/>
              <a:t>Business Recommendations</a:t>
            </a:r>
            <a:br>
              <a:rPr lang="en-US"/>
            </a:br>
            <a:endParaRPr lang="en-US"/>
          </a:p>
        </p:txBody>
      </p:sp>
      <p:sp>
        <p:nvSpPr>
          <p:cNvPr id="24" name="Isosceles Triangle 23">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Isosceles Triangle 25">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6" name="TextBox 3">
            <a:extLst>
              <a:ext uri="{FF2B5EF4-FFF2-40B4-BE49-F238E27FC236}">
                <a16:creationId xmlns:a16="http://schemas.microsoft.com/office/drawing/2014/main" id="{9EBDD08F-1534-FB96-F3ED-74542842428D}"/>
              </a:ext>
            </a:extLst>
          </p:cNvPr>
          <p:cNvGraphicFramePr/>
          <p:nvPr>
            <p:extLst>
              <p:ext uri="{D42A27DB-BD31-4B8C-83A1-F6EECF244321}">
                <p14:modId xmlns:p14="http://schemas.microsoft.com/office/powerpoint/2010/main" val="2703185641"/>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5836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 name="Isosceles Triangle 6">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Isosceles Triangle 29">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32" name="Rectangle 31">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34" name="Rectangle 33">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40"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2"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3" name="Isosceles Triangle 42">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4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5" name="Isosceles Triangle 44">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5E9C9555-C0A1-2DFB-37DE-45B0EC245101}"/>
              </a:ext>
            </a:extLst>
          </p:cNvPr>
          <p:cNvSpPr>
            <a:spLocks noGrp="1"/>
          </p:cNvSpPr>
          <p:nvPr>
            <p:ph type="title"/>
          </p:nvPr>
        </p:nvSpPr>
        <p:spPr>
          <a:xfrm>
            <a:off x="677334" y="609600"/>
            <a:ext cx="3843375" cy="5175624"/>
          </a:xfrm>
        </p:spPr>
        <p:txBody>
          <a:bodyPr vert="horz" lIns="91440" tIns="45720" rIns="91440" bIns="45720" rtlCol="0" anchor="ctr">
            <a:normAutofit/>
          </a:bodyPr>
          <a:lstStyle/>
          <a:p>
            <a:r>
              <a:rPr lang="en-US">
                <a:solidFill>
                  <a:schemeClr val="tx1">
                    <a:lumMod val="85000"/>
                    <a:lumOff val="15000"/>
                  </a:schemeClr>
                </a:solidFill>
              </a:rPr>
              <a:t>Conclusion</a:t>
            </a:r>
            <a:br>
              <a:rPr lang="en-US">
                <a:solidFill>
                  <a:schemeClr val="tx1">
                    <a:lumMod val="85000"/>
                    <a:lumOff val="15000"/>
                  </a:schemeClr>
                </a:solidFill>
              </a:rPr>
            </a:br>
            <a:endParaRPr lang="en-US">
              <a:solidFill>
                <a:schemeClr val="tx1">
                  <a:lumMod val="85000"/>
                  <a:lumOff val="15000"/>
                </a:schemeClr>
              </a:solidFill>
            </a:endParaRPr>
          </a:p>
        </p:txBody>
      </p:sp>
      <p:sp>
        <p:nvSpPr>
          <p:cNvPr id="46" name="Freeform: Shape 4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25BA9F85-61D4-DF95-90D8-175FA665C1E0}"/>
              </a:ext>
            </a:extLst>
          </p:cNvPr>
          <p:cNvSpPr txBox="1"/>
          <p:nvPr/>
        </p:nvSpPr>
        <p:spPr>
          <a:xfrm>
            <a:off x="6116084" y="609601"/>
            <a:ext cx="5511296" cy="5175624"/>
          </a:xfrm>
          <a:prstGeom prst="rect">
            <a:avLst/>
          </a:prstGeom>
        </p:spPr>
        <p:txBody>
          <a:bodyPr vert="horz" lIns="91440" tIns="45720" rIns="91440" bIns="45720" rtlCol="0" anchor="ctr">
            <a:normAutofit/>
          </a:bodyPr>
          <a:lstStyle/>
          <a:p>
            <a:pPr>
              <a:lnSpc>
                <a:spcPct val="90000"/>
              </a:lnSpc>
              <a:spcBef>
                <a:spcPts val="1000"/>
              </a:spcBef>
              <a:buClr>
                <a:schemeClr val="accent1"/>
              </a:buClr>
              <a:buSzPct val="80000"/>
              <a:buFont typeface="Wingdings 3" charset="2"/>
              <a:buChar char=""/>
            </a:pPr>
            <a:r>
              <a:rPr lang="en-US" sz="1500">
                <a:solidFill>
                  <a:srgbClr val="FFFFFF"/>
                </a:solidFill>
              </a:rPr>
              <a:t>Successfully cleaned and preprocessed the ApexPlanet_DataAnalytics_Dataset-1 to ensure data quality and consistency.</a:t>
            </a:r>
          </a:p>
          <a:p>
            <a:pPr>
              <a:lnSpc>
                <a:spcPct val="90000"/>
              </a:lnSpc>
              <a:spcBef>
                <a:spcPts val="1000"/>
              </a:spcBef>
              <a:buClr>
                <a:schemeClr val="accent1"/>
              </a:buClr>
              <a:buSzPct val="80000"/>
              <a:buFont typeface="Wingdings 3" charset="2"/>
              <a:buChar char=""/>
            </a:pPr>
            <a:r>
              <a:rPr lang="en-US" sz="1500">
                <a:solidFill>
                  <a:srgbClr val="FFFFFF"/>
                </a:solidFill>
              </a:rPr>
              <a:t>Performed Exploratory Data Analysis (EDA) using Python to identify sales patterns, customer behavior, and product performance.</a:t>
            </a:r>
          </a:p>
          <a:p>
            <a:pPr>
              <a:lnSpc>
                <a:spcPct val="90000"/>
              </a:lnSpc>
              <a:spcBef>
                <a:spcPts val="1000"/>
              </a:spcBef>
              <a:buClr>
                <a:schemeClr val="accent1"/>
              </a:buClr>
              <a:buSzPct val="80000"/>
              <a:buFont typeface="Wingdings 3" charset="2"/>
              <a:buChar char=""/>
            </a:pPr>
            <a:r>
              <a:rPr lang="en-US" sz="1500">
                <a:solidFill>
                  <a:srgbClr val="FFFFFF"/>
                </a:solidFill>
              </a:rPr>
              <a:t>Used SQL to answer key business questions, including total sales, average sales, top-selling products, and category-wise sales.</a:t>
            </a:r>
          </a:p>
          <a:p>
            <a:pPr>
              <a:lnSpc>
                <a:spcPct val="90000"/>
              </a:lnSpc>
              <a:spcBef>
                <a:spcPts val="1000"/>
              </a:spcBef>
              <a:buClr>
                <a:schemeClr val="accent1"/>
              </a:buClr>
              <a:buSzPct val="80000"/>
              <a:buFont typeface="Wingdings 3" charset="2"/>
              <a:buChar char=""/>
            </a:pPr>
            <a:r>
              <a:rPr lang="en-US" sz="1500">
                <a:solidFill>
                  <a:srgbClr val="FFFFFF"/>
                </a:solidFill>
              </a:rPr>
              <a:t>Developed an interactive Power BI dashboard to visualize KPIs, sales trends, and business performance.</a:t>
            </a:r>
          </a:p>
          <a:p>
            <a:pPr>
              <a:lnSpc>
                <a:spcPct val="90000"/>
              </a:lnSpc>
              <a:spcBef>
                <a:spcPts val="1000"/>
              </a:spcBef>
              <a:buClr>
                <a:schemeClr val="accent1"/>
              </a:buClr>
              <a:buSzPct val="80000"/>
              <a:buFont typeface="Wingdings 3" charset="2"/>
              <a:buChar char=""/>
            </a:pPr>
            <a:r>
              <a:rPr lang="en-US" sz="1500">
                <a:solidFill>
                  <a:srgbClr val="FFFFFF"/>
                </a:solidFill>
              </a:rPr>
              <a:t>Generated valuable business insights, including the highest-performing product categories, top-selling products, and city-wise sales performance.</a:t>
            </a:r>
          </a:p>
          <a:p>
            <a:pPr>
              <a:lnSpc>
                <a:spcPct val="90000"/>
              </a:lnSpc>
              <a:spcBef>
                <a:spcPts val="1000"/>
              </a:spcBef>
              <a:buClr>
                <a:schemeClr val="accent1"/>
              </a:buClr>
              <a:buSzPct val="80000"/>
              <a:buFont typeface="Wingdings 3" charset="2"/>
              <a:buChar char=""/>
            </a:pPr>
            <a:r>
              <a:rPr lang="en-US" sz="1500">
                <a:solidFill>
                  <a:srgbClr val="FFFFFF"/>
                </a:solidFill>
              </a:rPr>
              <a:t>Validated the findings using Pearson Correlation Analysis, confirming a statistically significant positive relationship between Quantity Sold and Total Sales.</a:t>
            </a:r>
          </a:p>
          <a:p>
            <a:pPr>
              <a:lnSpc>
                <a:spcPct val="90000"/>
              </a:lnSpc>
              <a:spcBef>
                <a:spcPts val="1000"/>
              </a:spcBef>
              <a:buClr>
                <a:schemeClr val="accent1"/>
              </a:buClr>
              <a:buSzPct val="80000"/>
              <a:buFont typeface="Wingdings 3" charset="2"/>
              <a:buChar char=""/>
            </a:pPr>
            <a:r>
              <a:rPr lang="en-US" sz="1500">
                <a:solidFill>
                  <a:srgbClr val="FFFFFF"/>
                </a:solidFill>
              </a:rPr>
              <a:t>Proposed practical business recommendations to improve sales performance, inventory management, and decision-making.</a:t>
            </a:r>
          </a:p>
        </p:txBody>
      </p:sp>
    </p:spTree>
    <p:extLst>
      <p:ext uri="{BB962C8B-B14F-4D97-AF65-F5344CB8AC3E}">
        <p14:creationId xmlns:p14="http://schemas.microsoft.com/office/powerpoint/2010/main" val="2292710952"/>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3" name="Title 2">
            <a:extLst>
              <a:ext uri="{FF2B5EF4-FFF2-40B4-BE49-F238E27FC236}">
                <a16:creationId xmlns:a16="http://schemas.microsoft.com/office/drawing/2014/main" id="{30CA1578-7393-33DB-A192-10C640A86C32}"/>
              </a:ext>
            </a:extLst>
          </p:cNvPr>
          <p:cNvSpPr>
            <a:spLocks noGrp="1"/>
          </p:cNvSpPr>
          <p:nvPr>
            <p:ph type="title"/>
          </p:nvPr>
        </p:nvSpPr>
        <p:spPr>
          <a:xfrm>
            <a:off x="6094855" y="3428999"/>
            <a:ext cx="3497565" cy="834993"/>
          </a:xfrm>
        </p:spPr>
        <p:txBody>
          <a:bodyPr vert="horz" lIns="91440" tIns="45720" rIns="91440" bIns="45720" rtlCol="0" anchor="b">
            <a:normAutofit fontScale="90000"/>
          </a:bodyPr>
          <a:lstStyle/>
          <a:p>
            <a:r>
              <a:rPr lang="en-US" sz="4400" kern="1200" dirty="0">
                <a:solidFill>
                  <a:schemeClr val="accent1"/>
                </a:solidFill>
                <a:latin typeface="+mj-lt"/>
                <a:ea typeface="+mj-ea"/>
                <a:cs typeface="+mj-cs"/>
              </a:rPr>
              <a:t>                           </a:t>
            </a:r>
            <a:r>
              <a:rPr lang="en-US" sz="4400" b="1" kern="1200" dirty="0">
                <a:solidFill>
                  <a:schemeClr val="accent1"/>
                </a:solidFill>
                <a:latin typeface="+mj-lt"/>
                <a:ea typeface="+mj-ea"/>
                <a:cs typeface="+mj-cs"/>
              </a:rPr>
              <a:t>Thank you</a:t>
            </a:r>
          </a:p>
        </p:txBody>
      </p:sp>
      <p:sp>
        <p:nvSpPr>
          <p:cNvPr id="22" name="Isosceles Triangle 21">
            <a:extLst>
              <a:ext uri="{FF2B5EF4-FFF2-40B4-BE49-F238E27FC236}">
                <a16:creationId xmlns:a16="http://schemas.microsoft.com/office/drawing/2014/main" id="{AA330523-F25B-4007-B3E5-ABB5637D16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pic>
        <p:nvPicPr>
          <p:cNvPr id="24" name="Graphic 23" descr="Handshake">
            <a:extLst>
              <a:ext uri="{FF2B5EF4-FFF2-40B4-BE49-F238E27FC236}">
                <a16:creationId xmlns:a16="http://schemas.microsoft.com/office/drawing/2014/main" id="{98551F26-2BDD-0A3C-6612-E2251C630F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40617" y="1261330"/>
            <a:ext cx="4335340" cy="4335340"/>
          </a:xfrm>
          <a:prstGeom prst="rect">
            <a:avLst/>
          </a:prstGeom>
        </p:spPr>
      </p:pic>
    </p:spTree>
    <p:extLst>
      <p:ext uri="{BB962C8B-B14F-4D97-AF65-F5344CB8AC3E}">
        <p14:creationId xmlns:p14="http://schemas.microsoft.com/office/powerpoint/2010/main" val="87600776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383</TotalTime>
  <Words>1269</Words>
  <Application>Microsoft Office PowerPoint</Application>
  <PresentationFormat>Widescreen</PresentationFormat>
  <Paragraphs>152</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Bahnschrift Light SemiCondensed</vt:lpstr>
      <vt:lpstr>Calibri</vt:lpstr>
      <vt:lpstr>Trebuchet MS</vt:lpstr>
      <vt:lpstr>Wingdings</vt:lpstr>
      <vt:lpstr>Wingdings 3</vt:lpstr>
      <vt:lpstr>Facet</vt:lpstr>
      <vt:lpstr>Sales Performance Analysis Using Python, SQL &amp; Power BI</vt:lpstr>
      <vt:lpstr>Business Problem &amp; Objectives </vt:lpstr>
      <vt:lpstr>Dataset Overview</vt:lpstr>
      <vt:lpstr>Data Cleaning &amp; Preprocessing  Data Cleaning Process ✔ Checked missing values                                                         ✔ Standardized column names ✔ Removed unnecessary spaces                                                ✔ Verified duplicate records ✔ Converted data types                                                             ✔ Prepared data for analysis  </vt:lpstr>
      <vt:lpstr>Exploratory Data Analysis(EDA)</vt:lpstr>
      <vt:lpstr>                        SQL Analysis Objective: SQL was used to query the sales database and answer key business questions efficiently. The analysis helped identify sales performance, product trends, and customer purchasing patterns  </vt:lpstr>
      <vt:lpstr>SQL Queries Used  3.Top Selling Products  Query: SELECT Product, SUM(Total_Sales) AS Total_Sales FROM Sales GROUP BY Product                  ORDER BY Total_Sales DESC;  4.Category-wise Sales Query: SELECT Category, SUM(Total_Sales) AS Total_Sales FROM Sales GROUP BY Category                 ORDER BY Total_Sales DESC;  Key Insights • SQL enabled quick business analysis. • Identified top-performing products. • Summarized sales information efficiently.  </vt:lpstr>
      <vt:lpstr>2. Average Sales Query: SELECT AVG(Total_Sales) AS Average_Sales FROM Sales; </vt:lpstr>
      <vt:lpstr>                     Power BI Dashboard </vt:lpstr>
      <vt:lpstr>                  Business Insights </vt:lpstr>
      <vt:lpstr>           Statistical Validation </vt:lpstr>
      <vt:lpstr>Business Recommendations </vt:lpstr>
      <vt:lpstr>Conclusion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Bala Koti Yasaswi Batchu</dc:creator>
  <cp:lastModifiedBy>Bala Koti Yasaswi Batchu</cp:lastModifiedBy>
  <cp:revision>1</cp:revision>
  <dcterms:created xsi:type="dcterms:W3CDTF">2026-07-17T08:03:19Z</dcterms:created>
  <dcterms:modified xsi:type="dcterms:W3CDTF">2026-07-17T14:27:05Z</dcterms:modified>
</cp:coreProperties>
</file>